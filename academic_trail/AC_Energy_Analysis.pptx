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37160" cy="21945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空调节能策略仿真分析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FF"/>
                </a:solidFill>
              </a:rPr>
              <a:t>基于田口 L25(5^6) 正交实验设计  |  惠州夏季气候背景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FF"/>
                </a:solidFill>
              </a:rPr>
              <a:t>方案对比  ·  数学建模  ·  仿真推导  ·  临界点分析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</a:rPr>
              <a:t>2026 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研究背景 &amp; 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24128"/>
            <a:ext cx="5394960" cy="1188720"/>
          </a:xfrm>
          <a:prstGeom prst="rect">
            <a:avLst/>
          </a:prstGeom>
          <a:solidFill>
            <a:srgbClr val="16213E"/>
          </a:solidFill>
          <a:ln w="18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0817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持续恒温运行 vs 关机回家再开
哪种策略更省电?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04288"/>
            <a:ext cx="5394960" cy="1188720"/>
          </a:xfrm>
          <a:prstGeom prst="rect">
            <a:avLst/>
          </a:prstGeom>
          <a:solidFill>
            <a:srgbClr val="16213E"/>
          </a:solidFill>
          <a:ln w="1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591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典型时间循环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8833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18:00回家 -&gt; 次日08:00出门 -&gt; 18:00回家
外出时段08:00-18:00 共10小时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84448"/>
            <a:ext cx="5394960" cy="1188720"/>
          </a:xfrm>
          <a:prstGeom prst="rect">
            <a:avLst/>
          </a:prstGeom>
          <a:solidFill>
            <a:srgbClr val="16213E"/>
          </a:solidFill>
          <a:ln w="1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39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背景条件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6849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惠州夏季室外温28-36 C
现代住宅建筑 分体式变频空调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24128"/>
            <a:ext cx="5486400" cy="1188720"/>
          </a:xfrm>
          <a:prstGeom prst="rect">
            <a:avLst/>
          </a:prstGeom>
          <a:solidFill>
            <a:srgbClr val="16213E"/>
          </a:solidFill>
          <a:ln w="18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4B"/>
                </a:solidFill>
              </a:rPr>
              <a:t>直觉陷阱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0817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多数人认为开着很费电应该关掉
但在高温+高热惯性建筑中结论不绝对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04288"/>
            <a:ext cx="5486400" cy="1188720"/>
          </a:xfrm>
          <a:prstGeom prst="rect">
            <a:avLst/>
          </a:prstGeom>
          <a:solidFill>
            <a:srgbClr val="16213E"/>
          </a:solidFill>
          <a:ln w="1800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59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FF"/>
                </a:solidFill>
              </a:rPr>
              <a:t>研究目标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8833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建立物理数学模型
2. 田口正交实验量化影响因素
3. 找两方案耗电相等的临界外出时长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005840"/>
            <a:ext cx="36576" cy="3840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两种方案定义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577840" cy="5394960"/>
          </a:xfrm>
          <a:prstGeom prst="rect">
            <a:avLst/>
          </a:prstGeom>
          <a:solidFill>
            <a:srgbClr val="0D1B40"/>
          </a:solidFill>
          <a:ln w="25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90FF"/>
                </a:solidFill>
              </a:rPr>
              <a:t>方案 A  24h 常开恒温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空调24小时全程维持目标温度 Tset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5303520" cy="1005840"/>
          </a:xfrm>
          <a:prstGeom prst="rect">
            <a:avLst/>
          </a:prstGeom>
          <a:solidFill>
            <a:srgbClr val="16213E"/>
          </a:solidFill>
          <a:ln w="12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</a:rPr>
              <a:t>Phase 1  初始降温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进门将室温T_start降至Tset
工作在额定功率P_rated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54680"/>
            <a:ext cx="5303520" cy="1005840"/>
          </a:xfrm>
          <a:prstGeom prst="rect">
            <a:avLst/>
          </a:prstGeom>
          <a:solidFill>
            <a:srgbClr val="16213E"/>
          </a:solidFill>
          <a:ln w="12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</a:rPr>
              <a:t>Phase 2  恒温维持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持续补偿围护结构漏热
稳态功率 P_idle=UA*dT/COP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97680"/>
            <a:ext cx="5303520" cy="1005840"/>
          </a:xfrm>
          <a:prstGeom prst="rect">
            <a:avLst/>
          </a:prstGeom>
          <a:solidFill>
            <a:srgbClr val="16213E"/>
          </a:solidFill>
          <a:ln w="12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</a:rPr>
              <a:t>全程无重启冲击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变频机低频稳定运行
COP保持最优值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05840"/>
            <a:ext cx="5577840" cy="5394960"/>
          </a:xfrm>
          <a:prstGeom prst="rect">
            <a:avLst/>
          </a:prstGeom>
          <a:solidFill>
            <a:srgbClr val="2E1010"/>
          </a:solidFill>
          <a:ln w="25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B4B"/>
                </a:solidFill>
              </a:rPr>
              <a:t>方案 B  出门关机 回家重开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出门关机 回家后重新开启降温至目标温度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011680"/>
            <a:ext cx="5303520" cy="868680"/>
          </a:xfrm>
          <a:prstGeom prst="rect">
            <a:avLst/>
          </a:prstGeom>
          <a:solidFill>
            <a:srgbClr val="16213E"/>
          </a:solidFill>
          <a:ln w="12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482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B4B"/>
                </a:solidFill>
              </a:rPr>
              <a:t>Phase 1  出门前正常使用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2257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出门前保持恒温
关机时室温=Tset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971800"/>
            <a:ext cx="5303520" cy="868680"/>
          </a:xfrm>
          <a:prstGeom prst="rect">
            <a:avLst/>
          </a:prstGeom>
          <a:solidFill>
            <a:srgbClr val="16213E"/>
          </a:solidFill>
          <a:ln w="12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0083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B4B"/>
                </a:solidFill>
              </a:rPr>
              <a:t>Phase 2  关机期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826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室温指数回升: T(t)=Tout-(Tout-Tset)*exp(-t/tau)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931920"/>
            <a:ext cx="5303520" cy="868680"/>
          </a:xfrm>
          <a:prstGeom prst="rect">
            <a:avLst/>
          </a:prstGeom>
          <a:solidFill>
            <a:srgbClr val="16213E"/>
          </a:solidFill>
          <a:ln w="12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684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B4B"/>
                </a:solidFill>
              </a:rPr>
              <a:t>Phase 3  回家急冷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4281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全功率P_max运行
COP衰减至稳态60% 能耗激增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892040"/>
            <a:ext cx="5303520" cy="868680"/>
          </a:xfrm>
          <a:prstGeom prst="rect">
            <a:avLst/>
          </a:prstGeom>
          <a:solidFill>
            <a:srgbClr val="16213E"/>
          </a:solidFill>
          <a:ln w="12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2861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B4B"/>
                </a:solidFill>
              </a:rPr>
              <a:t>Phase 4  二次恒温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2029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降至Tset后恢复低频维持
剩余时间同方案A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2926080"/>
            <a:ext cx="384048" cy="8229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971800"/>
            <a:ext cx="384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核心数学模型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87552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牛顿冷却定律  关机后室温回升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024128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T(t) = Tout - (Tout - Tset) * exp(-t / tau)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36191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7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FF"/>
                </a:solidFill>
              </a:rPr>
              <a:t>热时间常数 tau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572767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tau = C / UA    其中 C = m * cp (建筑等效热质量)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84830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21406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FF"/>
                </a:solidFill>
              </a:rPr>
              <a:t>综合传热系数 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21406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UA = 围护结构传热 + 门窗渗风 + 太阳辐射等效  (单位 W/K)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33469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70045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稳态维持功率 P_idle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70045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P_idle = UA * (Tout - Tset) / COP_m   (kW)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82108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18684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方案 A 日耗电量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18684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E_A = P_idle * 24   (kWh)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30747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767323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B4B"/>
                </a:solidFill>
              </a:rPr>
              <a:t>回家时室内温度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767323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T_return = Tout - (Tout - Tset) * exp(-t_off / tau)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79386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315962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满载等效极限温度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15962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T_eq = Tout - Q_max / UA    Q_max = P_max_elec * COP_c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28025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864601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B4B"/>
                </a:solidFill>
              </a:rPr>
              <a:t>急冷时长 t_cool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64601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t_cool = -tau * ln( (Tset - T_eq) / (T_return - T_eq) 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76664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413240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B4B"/>
                </a:solidFill>
              </a:rPr>
              <a:t>方案 B 日耗电量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13240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E_B = P_max * t_cool + P_idle * (24 - t_off - t_cool)   (kWh)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25303"/>
            <a:ext cx="11612880" cy="521207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961879"/>
            <a:ext cx="393192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临界方程  E_A = E_B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961879"/>
            <a:ext cx="7406640" cy="466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tau_c = tau * (1 - exp(-tau_c / tau))   [超越方程 数值求解]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田口 L25(5^6) 正交实验设计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FF"/>
                </a:solidFill>
              </a:rPr>
              <a:t>正交表 L25(5^6):  25次实验覆盖 5^6=15625 全因子主效应  压缩比 621:1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84048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490472"/>
            <a:ext cx="310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因素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417320"/>
            <a:ext cx="224028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90472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含义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5224" y="1417320"/>
            <a:ext cx="59436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90472"/>
            <a:ext cx="521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417320"/>
            <a:ext cx="59436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90472"/>
            <a:ext cx="521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417320"/>
            <a:ext cx="59436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1490472"/>
            <a:ext cx="521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1417320"/>
            <a:ext cx="59436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1490472"/>
            <a:ext cx="521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85816" y="1417320"/>
            <a:ext cx="59436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1490472"/>
            <a:ext cx="521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1417320"/>
            <a:ext cx="3840480" cy="4754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490472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备注说明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20240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1993392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90FF"/>
                </a:solidFill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" y="1920240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1993392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出门关机时长 (h)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35224" y="192024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199339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872" y="1920240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199339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192024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97096" y="199339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73168" y="1920240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9744" y="199339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816" y="192024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199339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98464" y="1920240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993392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外出时段的主效应变量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414016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2487168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B4B"/>
                </a:solidFill>
              </a:rPr>
              <a:t>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" y="2414016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2487168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室外温度 (C)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35224" y="2414016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24871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47872" y="2414016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84448" y="24871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2414016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97096" y="24871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73168" y="2414016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9744" y="24871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85816" y="2414016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22392" y="24871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98464" y="2414016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487168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惠州夏季 清晨至午后极值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907792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CC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2980944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CCFF"/>
                </a:solidFill>
              </a:rPr>
              <a:t>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" y="2907792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2980944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关机初始室温 (C)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35224" y="2907792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2980944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47872" y="2907792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84448" y="2980944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2907792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97096" y="2980944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73168" y="2907792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09744" y="2980944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85816" y="2907792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22392" y="2980944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98464" y="2907792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2980944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关机时的热惯性基数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401568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" y="3474720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53"/>
                </a:solidFill>
              </a:rPr>
              <a:t>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" y="3401568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" y="3474720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空调目标温度 (C)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35224" y="3401568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71800" y="3474720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47872" y="3401568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84448" y="3474720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60520" y="3401568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97096" y="3474720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3401568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09744" y="3474720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85816" y="3401568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22392" y="3474720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98464" y="3401568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5040" y="3474720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日常使用设定范围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895344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10896" y="3968496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</a:rPr>
              <a:t>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" y="3895344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" y="3968496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热惯性 tau (h)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35224" y="3895344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71800" y="3968496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47872" y="3895344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84448" y="3968496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60520" y="3895344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97096" y="3968496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73168" y="3895344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9744" y="3968496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85816" y="3895344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22392" y="3968496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12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98464" y="3895344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35040" y="3968496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玻璃幕墙/彩钢/砖墙/加气砖/混凝土保温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4389120"/>
            <a:ext cx="384048" cy="475488"/>
          </a:xfrm>
          <a:prstGeom prst="rect">
            <a:avLst/>
          </a:prstGeom>
          <a:solidFill>
            <a:srgbClr val="16213E"/>
          </a:solidFill>
          <a:ln w="10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0896" y="4462272"/>
            <a:ext cx="310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90FF"/>
                </a:solidFill>
              </a:rPr>
              <a:t>F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6656" y="4389120"/>
            <a:ext cx="22402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3232" y="4462272"/>
            <a:ext cx="2167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能效 COP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35224" y="438912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71800" y="446227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2.6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47872" y="4389120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84448" y="446227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3.0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160520" y="438912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97096" y="446227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3.3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773168" y="4389120"/>
            <a:ext cx="5943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09744" y="446227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3.6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85816" y="4389120"/>
            <a:ext cx="59436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422392" y="4462272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FF"/>
                </a:solidFill>
              </a:rPr>
              <a:t>4.0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98464" y="4389120"/>
            <a:ext cx="384048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035040" y="4462272"/>
            <a:ext cx="3767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国标5级至1级能效对应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solidFill>
            <a:srgbClr val="0A1535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6309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700"/>
                </a:solidFill>
              </a:rPr>
              <a:t>正交表生成:拉丁方旋转  row[r,c]=(r+j*c)mod5 for j=0..5  |  SA: 每列主效应两两正交 不混淆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仿真结果 — 散点图与拟合曲线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仿真结果 — 散点与拟合曲线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05</a:t>
            </a:r>
          </a:p>
        </p:txBody>
      </p:sp>
      <p:pic>
        <p:nvPicPr>
          <p:cNvPr id="7" name="Picture 6" descr="ppt_chart1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58952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005840"/>
            <a:ext cx="3840480" cy="5303520"/>
          </a:xfrm>
          <a:prstGeom prst="rect">
            <a:avLst/>
          </a:prstGeom>
          <a:solidFill>
            <a:srgbClr val="16213E"/>
          </a:solidFill>
          <a:ln w="15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关键统计量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72768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拟合临界外出时长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约 9.4 小时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276856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13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关机反而费电 组数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786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4B"/>
                </a:solidFill>
              </a:rPr>
              <a:t>15 / 25 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980944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关机确实省电 组数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10 / 25 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685032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7216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E_A 均值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5.95 kWh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4389120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425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E_B 均值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6908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4B"/>
                </a:solidFill>
              </a:rPr>
              <a:t>6.09 kWh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5093208"/>
            <a:ext cx="3474720" cy="640080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51297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E_B-E_A 均差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394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+0.14 kWh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仿真结果 — 两方案耗电量分布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06</a:t>
            </a:r>
          </a:p>
        </p:txBody>
      </p:sp>
      <p:pic>
        <p:nvPicPr>
          <p:cNvPr id="7" name="Picture 6" descr="ppt_chart3_scatter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58952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005840"/>
            <a:ext cx="3840480" cy="5303520"/>
          </a:xfrm>
          <a:prstGeom prst="rect">
            <a:avLst/>
          </a:prstGeom>
          <a:solidFill>
            <a:srgbClr val="16213E"/>
          </a:solidFill>
          <a:ln w="15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图表解读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72768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虚线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两方案耗电量完全相同的参考基准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414016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4505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红点 15组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15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方案B耗电&gt;方案A
关机反而更费电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3255264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蓝点 10组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5701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方案B耗电&lt;方案A
关机确实省电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4096512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133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规律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982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短时外出(2-5h)红点居多
长时外出(11-14h)蓝点居多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4937760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74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决定因素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395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tau热惯性+COP联合决定
点位偏离等值线程度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主效应分析 — E_B-E_A 差值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07</a:t>
            </a:r>
          </a:p>
        </p:txBody>
      </p:sp>
      <p:pic>
        <p:nvPicPr>
          <p:cNvPr id="7" name="Picture 6" descr="ppt_chart2_main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58952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005840"/>
            <a:ext cx="3840480" cy="5303520"/>
          </a:xfrm>
          <a:prstGeom prst="rect">
            <a:avLst/>
          </a:prstGeom>
          <a:solidFill>
            <a:srgbClr val="16213E"/>
          </a:solidFill>
          <a:ln w="15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主效应结论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72768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出门时长 A (最关键)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越长 B越有优势
2h时B费 14h时B省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414016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4505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室外温度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15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越高 两方案差距越大
温差越大B劣势越明显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3255264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目标温度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5701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设定越低 B惩罚越大
22C急冷代价远大于26C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4096512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133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热惯性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982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tau越大 室温回升越慢
关机越合算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4937760"/>
            <a:ext cx="3474720" cy="768096"/>
          </a:xfrm>
          <a:prstGeom prst="rect">
            <a:avLst/>
          </a:prstGeom>
          <a:solidFill>
            <a:srgbClr val="1E2A4A"/>
          </a:solidFill>
          <a:ln w="8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743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3"/>
                </a:solidFill>
              </a:rPr>
              <a:t>能效 COP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395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COP越低 急冷惩罚越重
低能效机不应反复开关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数据分析与结论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24128"/>
            <a:ext cx="11612880" cy="1005840"/>
          </a:xfrm>
          <a:prstGeom prst="rect">
            <a:avLst/>
          </a:prstGeom>
          <a:solidFill>
            <a:srgbClr val="16213E"/>
          </a:solidFill>
          <a:ln w="15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3385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700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78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临界外出时长约 9.4 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0817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在惠州夏季典型参数下，两方案日耗电量拟合曲线交于约 9.4 小时处。
外出 &lt; 9.4h：常开(A)省 | 外出 &gt; 9.4h：关机(B)省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03120"/>
            <a:ext cx="11612880" cy="1005840"/>
          </a:xfrm>
          <a:prstGeom prst="rect">
            <a:avLst/>
          </a:prstGeom>
          <a:solidFill>
            <a:srgbClr val="16213E"/>
          </a:solidFill>
          <a:ln w="150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4B4B"/>
                </a:solidFill>
              </a:rPr>
              <a:t>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579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4B"/>
                </a:solidFill>
              </a:rPr>
              <a:t>25组实验中 15组关机更费电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当出门时间在 2-8h 且热惯性 tau 较大(混凝土墙)时，
回家急冷的 COP 衰减代价超过关机省下的恒温电耗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82112"/>
            <a:ext cx="11612880" cy="1005840"/>
          </a:xfrm>
          <a:prstGeom prst="rect">
            <a:avLst/>
          </a:prstGeom>
          <a:solidFill>
            <a:srgbClr val="16213E"/>
          </a:solidFill>
          <a:ln w="15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53"/>
                </a:solidFill>
              </a:rPr>
              <a:t>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36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</a:rPr>
              <a:t>热惯性 tau 是最显著的非线性因子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tau=2h(玻璃幕墙)时关机反而省电；tau=12h(混凝土保温)时关机大量费电
与出门时长存在强交互效应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61104"/>
            <a:ext cx="11612880" cy="1005840"/>
          </a:xfrm>
          <a:prstGeom prst="rect">
            <a:avLst/>
          </a:prstGeom>
          <a:solidFill>
            <a:srgbClr val="16213E"/>
          </a:solidFill>
          <a:ln w="150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7083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90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能效 COP 与急冷 COP 的差距决定惩罚幅度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本模型假设急冷 COP=稳态 60%；若实际空调急冷 COP 衰减更少，
临界时长将左移，关机策略适用范围扩大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40096"/>
            <a:ext cx="11612880" cy="1005840"/>
          </a:xfrm>
          <a:prstGeom prst="rect">
            <a:avLst/>
          </a:prstGeom>
          <a:solidFill>
            <a:srgbClr val="16213E"/>
          </a:solidFill>
          <a:ln w="15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44982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700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实操最优策略：出门设 28-29°C 非关机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彻底关机 vs 彻底常开是极端策略；实际最优是出门调高 6-7°C 后低频维持，
可在两方案间取得耗电最优点，同时回家体验最好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实操建议与模型局限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1887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E90FF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577840" cy="5394960"/>
          </a:xfrm>
          <a:prstGeom prst="rect">
            <a:avLst/>
          </a:prstGeom>
          <a:solidFill>
            <a:srgbClr val="0A2018"/>
          </a:solidFill>
          <a:ln w="2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实操建议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184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外出 &lt; 30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不关机，维持设定温度运行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05456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511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外出 1~9 小时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调高目标温至 28-29°C 低功率维持
禁止直接关机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38144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外出 &gt; 9 小时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85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直接关机，回家前 30min 用 App 预开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370832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设定温度选择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18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每升高 1°C 省电约 7-10%
推荐 25-26°C 而非 22-23°C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03520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49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3"/>
                </a:solidFill>
              </a:rPr>
              <a:t>隔热改造优先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加装遮光窗帘可降低 Q_solar
节电效果远大于开关策略调整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005840"/>
            <a:ext cx="5577840" cy="5394960"/>
          </a:xfrm>
          <a:prstGeom prst="rect">
            <a:avLst/>
          </a:prstGeom>
          <a:solidFill>
            <a:srgbClr val="20100A"/>
          </a:solidFill>
          <a:ln w="2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0789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模型局限与后续改进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572768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6184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COP衰减假设固定60%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实际变频空调 COP-工况曲线因品牌型号不同差异大
建议接入厂商规格书数据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505456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5511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UA固定为100 W/K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8529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未建模真实房间朝向/层高/窗墙比
改进: 用 EnergyPlus 提取真实 UA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438144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83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未考虑人体散热 Q_internal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85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家中人员+电器散热可增加 200-500W 热负荷
会使方案 B 的急冷代价进一步增大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370832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416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一阶线性热模型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718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实际建筑为多阶热网络
用 RC 梯形网络可提高精度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303520"/>
            <a:ext cx="5303520" cy="868680"/>
          </a:xfrm>
          <a:prstGeom prst="rect">
            <a:avLst/>
          </a:prstGeom>
          <a:solidFill>
            <a:srgbClr val="16213E"/>
          </a:solidFill>
          <a:ln w="100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349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惠州夏季气温分布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650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仅取28-36°C覆盖典型值
实际应导入逐时气象数据(TMY3)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3716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感谢阅读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FF"/>
                </a:solidFill>
              </a:rPr>
              <a:t>数据文件 taguchi_L25_results.csv  |  模型可接入 Plant Simulation / EnergyPlus 进行扩展仿真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</a:rPr>
              <a:t>2026 April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