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8" d="100"/>
          <a:sy n="128" d="100"/>
        </p:scale>
        <p:origin x="17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760662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本报告通过建立热力学数学模型，结合田口正交实验设计和二分法精确搜索，系统分析了空调"恒温持续运行"与"间歇关机重启"两种运行策略的能耗差异。</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本研究的核心问题是：在什么条件下，空调"恒温持续运行"比"间歇关机重启"更省电？临界外出时长受哪些因素影响？</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技术路线分为五个阶段：首先建立热力学数学模型，然后通过田口正交实验筛选关键因子，利用Python进行数值仿真，再通过二分法精确搜索临界外出时长，最后进行综合敏感性分析。</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牛顿冷却定律是热力学的基本定律之一。在本研究中，它描述了空调关机后室内温度如何随时间变化。热时间常数τ是建筑围护结构的关键参数，它综合反映了墙体材料、厚度、保温性能等因素。</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恒温持续运行模式下，空调以变频或定频方式维持设定温度。维持功率取决于建筑围护结构的传热系数和室内外温差。该模型假设空调在恒温阶段能效比保持稳定。</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间歇关机重启模式下，空调需要经历急冷阶段将室温从回升后的温度重新降至设定温度。急冷阶段空调满负荷运行，能效比显著低于额定值，这是间歇关机策略的主要能耗代价。</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临界外出时长超越方程是本研究的关键理论成果。由于方程包含指数项和线性项的混合，无法获得解析解，因此采用二分法进行数值求解，精度可达0.01小时。</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部分负荷特性是影响空调实际能耗的重要因素。空调在部分负荷下运行时，压缩机效率、换热器性能等均与额定工况不同。IPLV（综合部分负荷能效值）是行业标准评价指标。</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实验设计采用三阶段递进策略：先用田口正交实验高效筛选关键因子，再用二分法精确搜索构建完整的临界外出时长分布，最后通过全因子验证和敏感性分析确保结论的可靠性。</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迭代收敛策略页展示了二分法的核心思想：通过不断将搜索区间对半缩小，以指数级的速度逼近精确临界外出时长。通常仅需3~5轮迭代即可达到0.01小时的精度要求。</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方差分析结果表明，外出时长和室外温度是影响节能效果的最主要因素，而空调能效比的影响非常有限。这一发现对消费者的选购决策具有重要参考价值。</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外出时长是决定两种方案优劣的最直接因素。短时间外出时，关机重启的急冷能耗超过了省下的维持运行能耗；随着外出时长增加，维持运行能耗线性累积，关机策略的优势逐渐凸显。</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室外温度通过影响室内外温差来改变两种方案的能耗对比。高温环境下，持续运行的维持功率显著增大，而关机后室温回升虽然更快，但急冷阶段的额外能耗占比相对降低。</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热时间常数反映了建筑的热惯性。保温性能好的建筑（大τ），关机后室温变化缓慢，回来后只需少量急冷即可恢复舒适温度，因此关机策略更有利。</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能效比主要影响绝对耗电量水平，对两种方案的相对优劣影响有限。这意味着无论使用何种能效比的空调，临界外出时长的判断标准基本一致。</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设定温度通过影响室内外温差来改变维持运行功率。较高的设定温度意味着较小的温差和较低的维持能耗，使得持续运行的代价降低，临界外出时长相应增大。</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对角线分析图直观展示了两方案的能耗对比关系。位于对角线（y=x）上方的点表示关机重启更费电，下方的点表示关机更省电。数据点整体分布偏向下方，说明在多数工况下关机重启具有一定节能优势。</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等高线图以外出时长和室外温度为坐标轴，展示了节能比例的空间分布。临界曲线将参数空间划分为两个区域，为实际使用提供了直观的决策参考。</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三维曲面图提供了节能比例的全局视角。曲面形态清晰地展示了外出时长和室外温度对节能效果的非线性交互影响，临界区域呈现为曲面上的零平面。下方提供了旋转动画、交互仪表盘和完整数据的链接。</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综合影响力分析通过加权评估各因子对临界外出时长的贡献度。热时间常数以绝对优势领先，说明建筑本身的保温性能是决定性因素，而非空调设备的能效比。</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敏感性分析通过Pearson相关系数量化了各因子与节能比例的线性关系。外出时长和热时间常数表现出极强的相关性，而能效比的相关性极弱，这与ANOVA的结论一致。</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研究结论表明，平均临界外出时长约为3.8小时，但受建筑保温性能影响极大（范围0.1~12.1小时）。热时间常数是决定性因素，能效比的影响微乎其微。</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hyperlink" Target="file:///Users/eric-mingle-69/Documents/trae%20solo/item_fille/&#31354;&#35843;&#24120;&#24320;&#36824;&#26159;&#23450;&#26102;&#20851;&#26356;&#30465;&#30005;&#65311;/&#31354;&#35843;&#33021;&#32791;&#20223;&#30495;&#32467;&#26524;.xlsx" TargetMode="External"/><Relationship Id="rId3" Type="http://schemas.openxmlformats.org/officeDocument/2006/relationships/image" Target="../media/image20.png"/><Relationship Id="rId7" Type="http://schemas.openxmlformats.org/officeDocument/2006/relationships/hyperlink" Target="file:////Users/eric-mingle-69/Documents/trae%20solo/item_fille/&#31354;&#35843;&#24120;&#24320;&#36824;&#26159;&#23450;&#26102;&#20851;&#26356;&#30465;&#30005;&#65311;/interactive/&#33021;&#32791;&#23545;&#27604;&#20132;&#20114;&#20202;&#34920;&#30424;.html"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hyperlink" Target="file:///Users/eric-mingle-69/Documents/trae%20solo/item_fille/&#31354;&#35843;&#24120;&#24320;&#36824;&#26159;&#23450;&#26102;&#20851;&#26356;&#30465;&#30005;&#65311;/interactive/&#33021;&#32791;&#23545;&#27604;&#20132;&#20114;&#20202;&#34920;&#30424;.html" TargetMode="External"/><Relationship Id="rId5" Type="http://schemas.openxmlformats.org/officeDocument/2006/relationships/hyperlink" Target="file:////Users/eric-mingle-69/Documents/trae%20solo/item_fille/&#31354;&#35843;&#24120;&#24320;&#36824;&#26159;&#23450;&#26102;&#20851;&#26356;&#30465;&#30005;&#65311;/assets/&#33410;&#33021;&#27604;&#20363;&#19977;&#32500;&#26354;&#38754;&#26059;&#36716;&#28436;&#31034;.gif" TargetMode="External"/><Relationship Id="rId4" Type="http://schemas.openxmlformats.org/officeDocument/2006/relationships/hyperlink" Target="file:///Users/eric-mingle-69/Documents/trae%20solo/item_fille/&#31354;&#35843;&#24120;&#24320;&#36824;&#26159;&#23450;&#26102;&#20851;&#26356;&#30465;&#30005;&#65311;/assets/&#33410;&#33021;&#27604;&#20363;&#19977;&#32500;&#26354;&#38754;&#26059;&#36716;&#28436;&#31034;.gif" TargetMode="External"/><Relationship Id="rId9" Type="http://schemas.openxmlformats.org/officeDocument/2006/relationships/hyperlink" Target="file:////Users/eric-mingle-69/Documents/trae%20solo/item_fille/&#31354;&#35843;&#24120;&#24320;&#36824;&#26159;&#23450;&#26102;&#20851;&#26356;&#30465;&#30005;&#65311;/&#31354;&#35843;&#33021;&#32791;&#20223;&#30495;&#32467;&#26524;.xlsx"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47A1"/>
        </a:solidFill>
        <a:effectLst/>
      </p:bgPr>
    </p:bg>
    <p:spTree>
      <p:nvGrpSpPr>
        <p:cNvPr id="1" name=""/>
        <p:cNvGrpSpPr/>
        <p:nvPr/>
      </p:nvGrpSpPr>
      <p:grpSpPr>
        <a:xfrm>
          <a:off x="0" y="0"/>
          <a:ext cx="0" cy="0"/>
          <a:chOff x="0" y="0"/>
          <a:chExt cx="0" cy="0"/>
        </a:xfrm>
      </p:grpSpPr>
      <p:sp>
        <p:nvSpPr>
          <p:cNvPr id="2" name="Text 0"/>
          <p:cNvSpPr/>
          <p:nvPr/>
        </p:nvSpPr>
        <p:spPr>
          <a:xfrm>
            <a:off x="0" y="1097280"/>
            <a:ext cx="9144000" cy="1828800"/>
          </a:xfrm>
          <a:prstGeom prst="rect">
            <a:avLst/>
          </a:prstGeom>
          <a:noFill/>
          <a:ln/>
        </p:spPr>
        <p:txBody>
          <a:bodyPr wrap="square" rtlCol="0" anchor="ctr"/>
          <a:lstStyle/>
          <a:p>
            <a:pPr marL="0" indent="0" algn="ctr">
              <a:lnSpc>
                <a:spcPct val="130000"/>
              </a:lnSpc>
              <a:buNone/>
            </a:pPr>
            <a:r>
              <a:rPr lang="en-US" sz="2600" b="1" dirty="0">
                <a:solidFill>
                  <a:srgbClr val="FFFFFF"/>
                </a:solidFill>
                <a:latin typeface="Calibri" pitchFamily="34" charset="0"/>
                <a:ea typeface="Calibri" pitchFamily="34" charset="-122"/>
                <a:cs typeface="Calibri" pitchFamily="34" charset="-120"/>
              </a:rPr>
              <a:t>空调"恒温持续运行"与"间歇关机重启"</a:t>
            </a:r>
            <a:endParaRPr lang="en-US" sz="2600" dirty="0"/>
          </a:p>
          <a:p>
            <a:pPr marL="0" indent="0" algn="ctr">
              <a:lnSpc>
                <a:spcPct val="130000"/>
              </a:lnSpc>
              <a:buNone/>
            </a:pPr>
            <a:r>
              <a:rPr lang="en-US" sz="2600" b="1" dirty="0">
                <a:solidFill>
                  <a:srgbClr val="FFFFFF"/>
                </a:solidFill>
                <a:latin typeface="Calibri" pitchFamily="34" charset="0"/>
                <a:ea typeface="Calibri" pitchFamily="34" charset="-122"/>
                <a:cs typeface="Calibri" pitchFamily="34" charset="-120"/>
              </a:rPr>
              <a:t>能耗对比研究</a:t>
            </a:r>
            <a:endParaRPr lang="en-US" sz="2600" dirty="0"/>
          </a:p>
        </p:txBody>
      </p:sp>
      <p:sp>
        <p:nvSpPr>
          <p:cNvPr id="3" name="Text 1"/>
          <p:cNvSpPr/>
          <p:nvPr/>
        </p:nvSpPr>
        <p:spPr>
          <a:xfrm>
            <a:off x="0" y="3017520"/>
            <a:ext cx="9144000" cy="548640"/>
          </a:xfrm>
          <a:prstGeom prst="rect">
            <a:avLst/>
          </a:prstGeom>
          <a:noFill/>
          <a:ln/>
        </p:spPr>
        <p:txBody>
          <a:bodyPr wrap="square" rtlCol="0" anchor="ctr"/>
          <a:lstStyle/>
          <a:p>
            <a:pPr marL="0" indent="0" algn="ctr">
              <a:buNone/>
            </a:pPr>
            <a:r>
              <a:rPr lang="en-US" sz="1400" dirty="0">
                <a:solidFill>
                  <a:srgbClr val="42A5F5"/>
                </a:solidFill>
                <a:latin typeface="Calibri" pitchFamily="34" charset="0"/>
                <a:ea typeface="Calibri" pitchFamily="34" charset="-122"/>
                <a:cs typeface="Calibri" pitchFamily="34" charset="-120"/>
              </a:rPr>
              <a:t>基于田口正交实验与二分法精确搜索的多维度仿真分析</a:t>
            </a:r>
            <a:endParaRPr lang="en-US" sz="1400" dirty="0"/>
          </a:p>
        </p:txBody>
      </p:sp>
      <p:sp>
        <p:nvSpPr>
          <p:cNvPr id="4" name="Shape 2"/>
          <p:cNvSpPr/>
          <p:nvPr/>
        </p:nvSpPr>
        <p:spPr>
          <a:xfrm>
            <a:off x="2743200" y="3840480"/>
            <a:ext cx="3657600" cy="27432"/>
          </a:xfrm>
          <a:prstGeom prst="rect">
            <a:avLst/>
          </a:prstGeom>
          <a:solidFill>
            <a:srgbClr val="42A5F5"/>
          </a:solidFill>
          <a:ln/>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txBody>
          <a:bodyPr/>
          <a:lstStyle/>
          <a:p>
            <a:endParaRPr lang="zh-CN" altLang="en-US"/>
          </a:p>
        </p:txBody>
      </p:sp>
      <p:sp>
        <p:nvSpPr>
          <p:cNvPr id="3" name="Text 1"/>
          <p:cNvSpPr/>
          <p:nvPr/>
        </p:nvSpPr>
        <p:spPr>
          <a:xfrm>
            <a:off x="457200" y="45720"/>
            <a:ext cx="8229600" cy="548640"/>
          </a:xfrm>
          <a:prstGeom prst="rect">
            <a:avLst/>
          </a:prstGeom>
          <a:noFill/>
          <a:ln/>
        </p:spPr>
        <p:txBody>
          <a:bodyPr wrap="square"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研究框架总览</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marL="0" indent="0" algn="r">
              <a:buNone/>
            </a:pPr>
            <a:r>
              <a:rPr lang="en-US" sz="800" dirty="0">
                <a:solidFill>
                  <a:srgbClr val="999999"/>
                </a:solidFill>
                <a:latin typeface="Calibri" pitchFamily="34" charset="0"/>
                <a:ea typeface="Calibri" pitchFamily="34" charset="-122"/>
                <a:cs typeface="Calibri" pitchFamily="34" charset="-120"/>
              </a:rPr>
              <a:t>2 / 25</a:t>
            </a:r>
            <a:endParaRPr lang="en-US" sz="800" dirty="0"/>
          </a:p>
        </p:txBody>
      </p:sp>
      <p:sp>
        <p:nvSpPr>
          <p:cNvPr id="5" name="Shape 3"/>
          <p:cNvSpPr/>
          <p:nvPr/>
        </p:nvSpPr>
        <p:spPr>
          <a:xfrm>
            <a:off x="1097280" y="1188720"/>
            <a:ext cx="411480" cy="411480"/>
          </a:xfrm>
          <a:prstGeom prst="ellipse">
            <a:avLst/>
          </a:prstGeom>
          <a:solidFill>
            <a:srgbClr val="0D47A1"/>
          </a:solidFill>
          <a:ln/>
        </p:spPr>
        <p:txBody>
          <a:bodyPr/>
          <a:lstStyle/>
          <a:p>
            <a:endParaRPr lang="zh-CN" altLang="en-US"/>
          </a:p>
        </p:txBody>
      </p:sp>
      <p:sp>
        <p:nvSpPr>
          <p:cNvPr id="6" name="Text 4"/>
          <p:cNvSpPr/>
          <p:nvPr/>
        </p:nvSpPr>
        <p:spPr>
          <a:xfrm>
            <a:off x="1097280" y="1188720"/>
            <a:ext cx="41148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7" name="Text 5"/>
          <p:cNvSpPr/>
          <p:nvPr/>
        </p:nvSpPr>
        <p:spPr>
          <a:xfrm>
            <a:off x="1737360" y="1188720"/>
            <a:ext cx="5486400" cy="411480"/>
          </a:xfrm>
          <a:prstGeom prst="rect">
            <a:avLst/>
          </a:prstGeom>
          <a:noFill/>
          <a:ln/>
        </p:spPr>
        <p:txBody>
          <a:bodyPr wrap="square" rtlCol="0" anchor="ctr"/>
          <a:lstStyle/>
          <a:p>
            <a:pPr marL="0" indent="0">
              <a:buNone/>
            </a:pPr>
            <a:r>
              <a:rPr lang="en-US" sz="1400" dirty="0">
                <a:solidFill>
                  <a:srgbClr val="212121"/>
                </a:solidFill>
                <a:latin typeface="Calibri" pitchFamily="34" charset="0"/>
                <a:ea typeface="Calibri" pitchFamily="34" charset="-122"/>
                <a:cs typeface="Calibri" pitchFamily="34" charset="-120"/>
              </a:rPr>
              <a:t>研究背景与技术路线</a:t>
            </a:r>
            <a:endParaRPr lang="en-US" sz="1400" dirty="0"/>
          </a:p>
        </p:txBody>
      </p:sp>
      <p:sp>
        <p:nvSpPr>
          <p:cNvPr id="8" name="Shape 6"/>
          <p:cNvSpPr/>
          <p:nvPr/>
        </p:nvSpPr>
        <p:spPr>
          <a:xfrm>
            <a:off x="1097280" y="1783080"/>
            <a:ext cx="411480" cy="411480"/>
          </a:xfrm>
          <a:prstGeom prst="ellipse">
            <a:avLst/>
          </a:prstGeom>
          <a:solidFill>
            <a:srgbClr val="0D47A1"/>
          </a:solidFill>
          <a:ln/>
        </p:spPr>
        <p:txBody>
          <a:bodyPr/>
          <a:lstStyle/>
          <a:p>
            <a:endParaRPr lang="zh-CN" altLang="en-US"/>
          </a:p>
        </p:txBody>
      </p:sp>
      <p:sp>
        <p:nvSpPr>
          <p:cNvPr id="9" name="Text 7"/>
          <p:cNvSpPr/>
          <p:nvPr/>
        </p:nvSpPr>
        <p:spPr>
          <a:xfrm>
            <a:off x="1097280" y="1783080"/>
            <a:ext cx="41148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0" name="Text 8"/>
          <p:cNvSpPr/>
          <p:nvPr/>
        </p:nvSpPr>
        <p:spPr>
          <a:xfrm>
            <a:off x="1737360" y="1783080"/>
            <a:ext cx="5486400" cy="411480"/>
          </a:xfrm>
          <a:prstGeom prst="rect">
            <a:avLst/>
          </a:prstGeom>
          <a:noFill/>
          <a:ln/>
        </p:spPr>
        <p:txBody>
          <a:bodyPr wrap="square" rtlCol="0" anchor="ctr"/>
          <a:lstStyle/>
          <a:p>
            <a:pPr marL="0" indent="0">
              <a:buNone/>
            </a:pPr>
            <a:r>
              <a:rPr lang="en-US" sz="1400" dirty="0">
                <a:solidFill>
                  <a:srgbClr val="212121"/>
                </a:solidFill>
                <a:latin typeface="Calibri" pitchFamily="34" charset="0"/>
                <a:ea typeface="Calibri" pitchFamily="34" charset="-122"/>
                <a:cs typeface="Calibri" pitchFamily="34" charset="-120"/>
              </a:rPr>
              <a:t>热力学数学模型</a:t>
            </a:r>
            <a:endParaRPr lang="en-US" sz="1400" dirty="0"/>
          </a:p>
        </p:txBody>
      </p:sp>
      <p:sp>
        <p:nvSpPr>
          <p:cNvPr id="11" name="Shape 9"/>
          <p:cNvSpPr/>
          <p:nvPr/>
        </p:nvSpPr>
        <p:spPr>
          <a:xfrm>
            <a:off x="1097280" y="2377440"/>
            <a:ext cx="411480" cy="411480"/>
          </a:xfrm>
          <a:prstGeom prst="ellipse">
            <a:avLst/>
          </a:prstGeom>
          <a:solidFill>
            <a:srgbClr val="0D47A1"/>
          </a:solidFill>
          <a:ln/>
        </p:spPr>
        <p:txBody>
          <a:bodyPr/>
          <a:lstStyle/>
          <a:p>
            <a:endParaRPr lang="zh-CN" altLang="en-US"/>
          </a:p>
        </p:txBody>
      </p:sp>
      <p:sp>
        <p:nvSpPr>
          <p:cNvPr id="12" name="Text 10"/>
          <p:cNvSpPr/>
          <p:nvPr/>
        </p:nvSpPr>
        <p:spPr>
          <a:xfrm>
            <a:off x="1097280" y="2377440"/>
            <a:ext cx="41148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3" name="Text 11"/>
          <p:cNvSpPr/>
          <p:nvPr/>
        </p:nvSpPr>
        <p:spPr>
          <a:xfrm>
            <a:off x="1737360" y="2377440"/>
            <a:ext cx="5486400" cy="411480"/>
          </a:xfrm>
          <a:prstGeom prst="rect">
            <a:avLst/>
          </a:prstGeom>
          <a:noFill/>
          <a:ln/>
        </p:spPr>
        <p:txBody>
          <a:bodyPr wrap="square" rtlCol="0" anchor="ctr"/>
          <a:lstStyle/>
          <a:p>
            <a:pPr marL="0" indent="0">
              <a:buNone/>
            </a:pPr>
            <a:r>
              <a:rPr lang="en-US" sz="1400" dirty="0">
                <a:solidFill>
                  <a:srgbClr val="212121"/>
                </a:solidFill>
                <a:latin typeface="Calibri" pitchFamily="34" charset="0"/>
                <a:ea typeface="Calibri" pitchFamily="34" charset="-122"/>
                <a:cs typeface="Calibri" pitchFamily="34" charset="-120"/>
              </a:rPr>
              <a:t>实验设计与方差分析</a:t>
            </a:r>
            <a:endParaRPr lang="en-US" sz="1400" dirty="0"/>
          </a:p>
        </p:txBody>
      </p:sp>
      <p:sp>
        <p:nvSpPr>
          <p:cNvPr id="14" name="Shape 12"/>
          <p:cNvSpPr/>
          <p:nvPr/>
        </p:nvSpPr>
        <p:spPr>
          <a:xfrm>
            <a:off x="1097280" y="2971800"/>
            <a:ext cx="411480" cy="411480"/>
          </a:xfrm>
          <a:prstGeom prst="ellipse">
            <a:avLst/>
          </a:prstGeom>
          <a:solidFill>
            <a:srgbClr val="0D47A1"/>
          </a:solidFill>
          <a:ln/>
        </p:spPr>
        <p:txBody>
          <a:bodyPr/>
          <a:lstStyle/>
          <a:p>
            <a:endParaRPr lang="zh-CN" altLang="en-US"/>
          </a:p>
        </p:txBody>
      </p:sp>
      <p:sp>
        <p:nvSpPr>
          <p:cNvPr id="15" name="Text 13"/>
          <p:cNvSpPr/>
          <p:nvPr/>
        </p:nvSpPr>
        <p:spPr>
          <a:xfrm>
            <a:off x="1097280" y="2971800"/>
            <a:ext cx="41148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16" name="Text 14"/>
          <p:cNvSpPr/>
          <p:nvPr/>
        </p:nvSpPr>
        <p:spPr>
          <a:xfrm>
            <a:off x="1737360" y="2971800"/>
            <a:ext cx="5486400" cy="411480"/>
          </a:xfrm>
          <a:prstGeom prst="rect">
            <a:avLst/>
          </a:prstGeom>
          <a:noFill/>
          <a:ln/>
        </p:spPr>
        <p:txBody>
          <a:bodyPr wrap="square" rtlCol="0" anchor="ctr"/>
          <a:lstStyle/>
          <a:p>
            <a:pPr marL="0" indent="0">
              <a:buNone/>
            </a:pPr>
            <a:r>
              <a:rPr lang="en-US" sz="1400" dirty="0">
                <a:solidFill>
                  <a:srgbClr val="212121"/>
                </a:solidFill>
                <a:latin typeface="Calibri" pitchFamily="34" charset="0"/>
                <a:ea typeface="Calibri" pitchFamily="34" charset="-122"/>
                <a:cs typeface="Calibri" pitchFamily="34" charset="-120"/>
              </a:rPr>
              <a:t>两方案耗电量对比分析</a:t>
            </a:r>
            <a:endParaRPr lang="en-US" sz="1400" dirty="0"/>
          </a:p>
        </p:txBody>
      </p:sp>
      <p:sp>
        <p:nvSpPr>
          <p:cNvPr id="17" name="Shape 15"/>
          <p:cNvSpPr/>
          <p:nvPr/>
        </p:nvSpPr>
        <p:spPr>
          <a:xfrm>
            <a:off x="1097280" y="3566160"/>
            <a:ext cx="411480" cy="411480"/>
          </a:xfrm>
          <a:prstGeom prst="ellipse">
            <a:avLst/>
          </a:prstGeom>
          <a:solidFill>
            <a:srgbClr val="0D47A1"/>
          </a:solidFill>
          <a:ln/>
        </p:spPr>
        <p:txBody>
          <a:bodyPr/>
          <a:lstStyle/>
          <a:p>
            <a:endParaRPr lang="zh-CN" altLang="en-US"/>
          </a:p>
        </p:txBody>
      </p:sp>
      <p:sp>
        <p:nvSpPr>
          <p:cNvPr id="18" name="Text 16"/>
          <p:cNvSpPr/>
          <p:nvPr/>
        </p:nvSpPr>
        <p:spPr>
          <a:xfrm>
            <a:off x="1097280" y="3566160"/>
            <a:ext cx="41148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19" name="Text 17"/>
          <p:cNvSpPr/>
          <p:nvPr/>
        </p:nvSpPr>
        <p:spPr>
          <a:xfrm>
            <a:off x="1737360" y="3566160"/>
            <a:ext cx="5486400" cy="411480"/>
          </a:xfrm>
          <a:prstGeom prst="rect">
            <a:avLst/>
          </a:prstGeom>
          <a:noFill/>
          <a:ln/>
        </p:spPr>
        <p:txBody>
          <a:bodyPr wrap="square" rtlCol="0" anchor="ctr"/>
          <a:lstStyle/>
          <a:p>
            <a:pPr marL="0" indent="0">
              <a:buNone/>
            </a:pPr>
            <a:r>
              <a:rPr lang="en-US" sz="1400" dirty="0">
                <a:solidFill>
                  <a:srgbClr val="212121"/>
                </a:solidFill>
                <a:latin typeface="Calibri" pitchFamily="34" charset="0"/>
                <a:ea typeface="Calibri" pitchFamily="34" charset="-122"/>
                <a:cs typeface="Calibri" pitchFamily="34" charset="-120"/>
              </a:rPr>
              <a:t>综合影响力与敏感性分析</a:t>
            </a:r>
            <a:endParaRPr lang="en-US" sz="1400" dirty="0"/>
          </a:p>
        </p:txBody>
      </p:sp>
      <p:sp>
        <p:nvSpPr>
          <p:cNvPr id="20" name="Shape 18"/>
          <p:cNvSpPr/>
          <p:nvPr/>
        </p:nvSpPr>
        <p:spPr>
          <a:xfrm>
            <a:off x="1097280" y="4160520"/>
            <a:ext cx="411480" cy="411480"/>
          </a:xfrm>
          <a:prstGeom prst="ellipse">
            <a:avLst/>
          </a:prstGeom>
          <a:solidFill>
            <a:srgbClr val="0D47A1"/>
          </a:solidFill>
          <a:ln/>
        </p:spPr>
        <p:txBody>
          <a:bodyPr/>
          <a:lstStyle/>
          <a:p>
            <a:endParaRPr lang="zh-CN" altLang="en-US"/>
          </a:p>
        </p:txBody>
      </p:sp>
      <p:sp>
        <p:nvSpPr>
          <p:cNvPr id="21" name="Text 19"/>
          <p:cNvSpPr/>
          <p:nvPr/>
        </p:nvSpPr>
        <p:spPr>
          <a:xfrm>
            <a:off x="1097280" y="4160520"/>
            <a:ext cx="411480" cy="41148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22" name="Text 20"/>
          <p:cNvSpPr/>
          <p:nvPr/>
        </p:nvSpPr>
        <p:spPr>
          <a:xfrm>
            <a:off x="1737360" y="4160520"/>
            <a:ext cx="5486400" cy="411480"/>
          </a:xfrm>
          <a:prstGeom prst="rect">
            <a:avLst/>
          </a:prstGeom>
          <a:noFill/>
          <a:ln/>
        </p:spPr>
        <p:txBody>
          <a:bodyPr wrap="square" rtlCol="0" anchor="ctr"/>
          <a:lstStyle/>
          <a:p>
            <a:pPr marL="0" indent="0">
              <a:buNone/>
            </a:pPr>
            <a:r>
              <a:rPr lang="en-US" sz="1400" dirty="0">
                <a:solidFill>
                  <a:srgbClr val="212121"/>
                </a:solidFill>
                <a:latin typeface="Calibri" pitchFamily="34" charset="0"/>
                <a:ea typeface="Calibri" pitchFamily="34" charset="-122"/>
                <a:cs typeface="Calibri" pitchFamily="34" charset="-120"/>
              </a:rPr>
              <a:t>研究结论与建议</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txBody>
          <a:bodyPr/>
          <a:lstStyle/>
          <a:p>
            <a:endParaRPr lang="zh-CN" altLang="en-US"/>
          </a:p>
        </p:txBody>
      </p:sp>
      <p:sp>
        <p:nvSpPr>
          <p:cNvPr id="3" name="Text 1"/>
          <p:cNvSpPr/>
          <p:nvPr/>
        </p:nvSpPr>
        <p:spPr>
          <a:xfrm>
            <a:off x="457200" y="45720"/>
            <a:ext cx="8229600" cy="548640"/>
          </a:xfrm>
          <a:prstGeom prst="rect">
            <a:avLst/>
          </a:prstGeom>
          <a:noFill/>
          <a:ln/>
        </p:spPr>
        <p:txBody>
          <a:bodyPr wrap="square"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研究背景与问题</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marL="0" indent="0" algn="r">
              <a:buNone/>
            </a:pPr>
            <a:r>
              <a:rPr lang="en-US" sz="800" dirty="0">
                <a:solidFill>
                  <a:srgbClr val="999999"/>
                </a:solidFill>
                <a:latin typeface="Calibri" pitchFamily="34" charset="0"/>
                <a:ea typeface="Calibri" pitchFamily="34" charset="-122"/>
                <a:cs typeface="Calibri" pitchFamily="34" charset="-120"/>
              </a:rPr>
              <a:t>3 / 25</a:t>
            </a:r>
            <a:endParaRPr lang="en-US" sz="800" dirty="0"/>
          </a:p>
        </p:txBody>
      </p:sp>
      <p:sp>
        <p:nvSpPr>
          <p:cNvPr id="5" name="Text 3"/>
          <p:cNvSpPr/>
          <p:nvPr/>
        </p:nvSpPr>
        <p:spPr>
          <a:xfrm>
            <a:off x="457200" y="914400"/>
            <a:ext cx="4572000" cy="3474720"/>
          </a:xfrm>
          <a:prstGeom prst="rect">
            <a:avLst/>
          </a:prstGeom>
          <a:noFill/>
          <a:ln/>
        </p:spPr>
        <p:txBody>
          <a:bodyPr wrap="square" rtlCol="0" anchor="t"/>
          <a:lstStyle/>
          <a:p>
            <a:pPr marL="0" indent="0">
              <a:lnSpc>
                <a:spcPct val="140000"/>
              </a:lnSpc>
              <a:buNone/>
            </a:pPr>
            <a:r>
              <a:rPr lang="en-US" sz="1050" dirty="0">
                <a:solidFill>
                  <a:srgbClr val="212121"/>
                </a:solidFill>
                <a:latin typeface="Calibri" pitchFamily="34" charset="0"/>
                <a:ea typeface="Calibri" pitchFamily="34" charset="-122"/>
                <a:cs typeface="Calibri" pitchFamily="34" charset="-120"/>
              </a:rPr>
              <a:t>夏季高温天气中，空调已成为家庭和办公场所不可或缺的降温设备。然而，关于空调的使用方式，长期存在一个普遍的争议：</a:t>
            </a:r>
            <a:endParaRPr lang="en-US" sz="1050" dirty="0"/>
          </a:p>
          <a:p>
            <a:pPr marL="0" indent="0">
              <a:lnSpc>
                <a:spcPct val="140000"/>
              </a:lnSpc>
              <a:buNone/>
            </a:pPr>
            <a:endParaRPr lang="en-US" sz="1050" dirty="0"/>
          </a:p>
          <a:p>
            <a:pPr marL="0" indent="0">
              <a:lnSpc>
                <a:spcPct val="140000"/>
              </a:lnSpc>
              <a:buNone/>
            </a:pPr>
            <a:r>
              <a:rPr lang="en-US" sz="1050" dirty="0">
                <a:solidFill>
                  <a:srgbClr val="212121"/>
                </a:solidFill>
                <a:latin typeface="Calibri" pitchFamily="34" charset="0"/>
                <a:ea typeface="Calibri" pitchFamily="34" charset="-122"/>
                <a:cs typeface="Calibri" pitchFamily="34" charset="-120"/>
              </a:rPr>
              <a:t>• 短暂外出时，是保持空调持续运行更省电？</a:t>
            </a:r>
            <a:endParaRPr lang="en-US" sz="1050" dirty="0"/>
          </a:p>
          <a:p>
            <a:pPr marL="0" indent="0">
              <a:lnSpc>
                <a:spcPct val="140000"/>
              </a:lnSpc>
              <a:buNone/>
            </a:pPr>
            <a:r>
              <a:rPr lang="en-US" sz="1050" dirty="0">
                <a:solidFill>
                  <a:srgbClr val="212121"/>
                </a:solidFill>
                <a:latin typeface="Calibri" pitchFamily="34" charset="0"/>
                <a:ea typeface="Calibri" pitchFamily="34" charset="-122"/>
                <a:cs typeface="Calibri" pitchFamily="34" charset="-120"/>
              </a:rPr>
              <a:t>• 还是关闭空调，回来后再重新开启更经济？</a:t>
            </a:r>
            <a:endParaRPr lang="en-US" sz="1050" dirty="0"/>
          </a:p>
          <a:p>
            <a:pPr marL="0" indent="0">
              <a:lnSpc>
                <a:spcPct val="140000"/>
              </a:lnSpc>
              <a:buNone/>
            </a:pPr>
            <a:endParaRPr lang="en-US" sz="1050" dirty="0"/>
          </a:p>
          <a:p>
            <a:pPr marL="0" indent="0">
              <a:lnSpc>
                <a:spcPct val="140000"/>
              </a:lnSpc>
              <a:buNone/>
            </a:pPr>
            <a:r>
              <a:rPr lang="en-US" sz="1050" dirty="0">
                <a:solidFill>
                  <a:srgbClr val="212121"/>
                </a:solidFill>
                <a:latin typeface="Calibri" pitchFamily="34" charset="0"/>
                <a:ea typeface="Calibri" pitchFamily="34" charset="-122"/>
                <a:cs typeface="Calibri" pitchFamily="34" charset="-120"/>
              </a:rPr>
              <a:t>传统观念认为"频繁启停更费电"，但缺乏系统的定量分析支撑。本研究旨在通过严谨的热力学建模与仿真实验，为这一日常决策提供科学依据。</a:t>
            </a:r>
            <a:endParaRPr lang="en-US" sz="1050" dirty="0"/>
          </a:p>
        </p:txBody>
      </p:sp>
      <p:sp>
        <p:nvSpPr>
          <p:cNvPr id="6" name="Shape 4"/>
          <p:cNvSpPr/>
          <p:nvPr/>
        </p:nvSpPr>
        <p:spPr>
          <a:xfrm>
            <a:off x="5303520" y="1097280"/>
            <a:ext cx="3383280" cy="2926080"/>
          </a:xfrm>
          <a:prstGeom prst="roundRect">
            <a:avLst>
              <a:gd name="adj" fmla="val 3125"/>
            </a:avLst>
          </a:prstGeom>
          <a:solidFill>
            <a:srgbClr val="F5F7FA"/>
          </a:solidFill>
          <a:ln w="6350">
            <a:solidFill>
              <a:srgbClr val="42A5F5"/>
            </a:solidFill>
            <a:prstDash val="solid"/>
          </a:ln>
        </p:spPr>
        <p:txBody>
          <a:bodyPr/>
          <a:lstStyle/>
          <a:p>
            <a:endParaRPr lang="zh-CN" altLang="en-US"/>
          </a:p>
        </p:txBody>
      </p:sp>
      <p:sp>
        <p:nvSpPr>
          <p:cNvPr id="7" name="Text 5"/>
          <p:cNvSpPr/>
          <p:nvPr/>
        </p:nvSpPr>
        <p:spPr>
          <a:xfrm>
            <a:off x="5440680" y="1170432"/>
            <a:ext cx="3108960" cy="320040"/>
          </a:xfrm>
          <a:prstGeom prst="rect">
            <a:avLst/>
          </a:prstGeom>
          <a:noFill/>
          <a:ln/>
        </p:spPr>
        <p:txBody>
          <a:bodyPr wrap="square" rtlCol="0" anchor="ctr"/>
          <a:lstStyle/>
          <a:p>
            <a:pPr marL="0" indent="0">
              <a:buNone/>
            </a:pPr>
            <a:r>
              <a:rPr lang="en-US" sz="1100" b="1" dirty="0">
                <a:solidFill>
                  <a:srgbClr val="0D47A1"/>
                </a:solidFill>
                <a:latin typeface="Calibri" pitchFamily="34" charset="0"/>
                <a:ea typeface="Calibri" pitchFamily="34" charset="-122"/>
                <a:cs typeface="Calibri" pitchFamily="34" charset="-120"/>
              </a:rPr>
              <a:t>核心研究问题</a:t>
            </a:r>
            <a:endParaRPr lang="en-US" sz="1100" dirty="0"/>
          </a:p>
        </p:txBody>
      </p:sp>
      <p:sp>
        <p:nvSpPr>
          <p:cNvPr id="8" name="Text 6"/>
          <p:cNvSpPr/>
          <p:nvPr/>
        </p:nvSpPr>
        <p:spPr>
          <a:xfrm>
            <a:off x="5440680" y="1463040"/>
            <a:ext cx="3108960" cy="2468880"/>
          </a:xfrm>
          <a:prstGeom prst="rect">
            <a:avLst/>
          </a:prstGeom>
          <a:noFill/>
          <a:ln/>
        </p:spPr>
        <p:txBody>
          <a:bodyPr wrap="square" rtlCol="0" anchor="t"/>
          <a:lstStyle/>
          <a:p>
            <a:pPr marL="0" indent="0">
              <a:buNone/>
            </a:pPr>
            <a:r>
              <a:rPr lang="en-US" sz="900" dirty="0">
                <a:solidFill>
                  <a:srgbClr val="212121"/>
                </a:solidFill>
                <a:latin typeface="Calibri" pitchFamily="34" charset="0"/>
                <a:ea typeface="Calibri" pitchFamily="34" charset="-122"/>
                <a:cs typeface="Calibri" pitchFamily="34" charset="-120"/>
              </a:rPr>
              <a:t>在给定建筑热特性、室外气象条件和空调性能参数下，</a:t>
            </a:r>
            <a:endParaRPr lang="en-US" sz="900" dirty="0"/>
          </a:p>
          <a:p>
            <a:pPr marL="0" indent="0">
              <a:buNone/>
            </a:pPr>
            <a:endParaRPr lang="en-US" sz="900" dirty="0"/>
          </a:p>
          <a:p>
            <a:pPr marL="0" indent="0">
              <a:buNone/>
            </a:pPr>
            <a:r>
              <a:rPr lang="en-US" sz="900" dirty="0">
                <a:solidFill>
                  <a:srgbClr val="212121"/>
                </a:solidFill>
                <a:latin typeface="Calibri" pitchFamily="34" charset="0"/>
                <a:ea typeface="Calibri" pitchFamily="34" charset="-122"/>
                <a:cs typeface="Calibri" pitchFamily="34" charset="-120"/>
              </a:rPr>
              <a:t>存在一个临界外出时长 T_critical：</a:t>
            </a:r>
            <a:endParaRPr lang="en-US" sz="900" dirty="0"/>
          </a:p>
          <a:p>
            <a:pPr marL="0" indent="0">
              <a:buNone/>
            </a:pPr>
            <a:endParaRPr lang="en-US" sz="900" dirty="0"/>
          </a:p>
          <a:p>
            <a:pPr marL="0" indent="0">
              <a:buNone/>
            </a:pPr>
            <a:r>
              <a:rPr lang="en-US" sz="900" dirty="0">
                <a:solidFill>
                  <a:srgbClr val="212121"/>
                </a:solidFill>
                <a:latin typeface="Calibri" pitchFamily="34" charset="0"/>
                <a:ea typeface="Calibri" pitchFamily="34" charset="-122"/>
                <a:cs typeface="Calibri" pitchFamily="34" charset="-120"/>
              </a:rPr>
              <a:t>• 当外出时长 &lt; T_critical 时，恒温持续运行更省电</a:t>
            </a:r>
            <a:endParaRPr lang="en-US" sz="900" dirty="0"/>
          </a:p>
          <a:p>
            <a:pPr marL="0" indent="0">
              <a:buNone/>
            </a:pPr>
            <a:endParaRPr lang="en-US" sz="900" dirty="0"/>
          </a:p>
          <a:p>
            <a:pPr marL="0" indent="0">
              <a:buNone/>
            </a:pPr>
            <a:r>
              <a:rPr lang="en-US" sz="900" dirty="0">
                <a:solidFill>
                  <a:srgbClr val="212121"/>
                </a:solidFill>
                <a:latin typeface="Calibri" pitchFamily="34" charset="0"/>
                <a:ea typeface="Calibri" pitchFamily="34" charset="-122"/>
                <a:cs typeface="Calibri" pitchFamily="34" charset="-120"/>
              </a:rPr>
              <a:t>• 当外出时长 &gt; T_critical 时，间歇关机重启更省电</a:t>
            </a:r>
            <a:endParaRPr lang="en-US" sz="900" dirty="0"/>
          </a:p>
          <a:p>
            <a:pPr marL="0" indent="0">
              <a:buNone/>
            </a:pPr>
            <a:endParaRPr lang="en-US" sz="900" dirty="0"/>
          </a:p>
          <a:p>
            <a:pPr marL="0" indent="0">
              <a:buNone/>
            </a:pPr>
            <a:r>
              <a:rPr lang="en-US" sz="900" dirty="0">
                <a:solidFill>
                  <a:srgbClr val="212121"/>
                </a:solidFill>
                <a:latin typeface="Calibri" pitchFamily="34" charset="0"/>
                <a:ea typeface="Calibri" pitchFamily="34" charset="-122"/>
                <a:cs typeface="Calibri" pitchFamily="34" charset="-120"/>
              </a:rPr>
              <a:t>本研究的目标是精确定位 T_critical 并分析其影响因素。</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txBody>
          <a:bodyPr/>
          <a:lstStyle/>
          <a:p>
            <a:endParaRPr lang="zh-CN" altLang="en-US"/>
          </a:p>
        </p:txBody>
      </p:sp>
      <p:sp>
        <p:nvSpPr>
          <p:cNvPr id="3" name="Text 1"/>
          <p:cNvSpPr/>
          <p:nvPr/>
        </p:nvSpPr>
        <p:spPr>
          <a:xfrm>
            <a:off x="457200" y="45720"/>
            <a:ext cx="8229600" cy="548640"/>
          </a:xfrm>
          <a:prstGeom prst="rect">
            <a:avLst/>
          </a:prstGeom>
          <a:noFill/>
          <a:ln/>
        </p:spPr>
        <p:txBody>
          <a:bodyPr wrap="square"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技术路线</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marL="0" indent="0" algn="r">
              <a:buNone/>
            </a:pPr>
            <a:r>
              <a:rPr lang="en-US" sz="800" dirty="0">
                <a:solidFill>
                  <a:srgbClr val="999999"/>
                </a:solidFill>
                <a:latin typeface="Calibri" pitchFamily="34" charset="0"/>
                <a:ea typeface="Calibri" pitchFamily="34" charset="-122"/>
                <a:cs typeface="Calibri" pitchFamily="34" charset="-120"/>
              </a:rPr>
              <a:t>4 / 25</a:t>
            </a:r>
            <a:endParaRPr lang="en-US" sz="800" dirty="0"/>
          </a:p>
        </p:txBody>
      </p:sp>
      <p:sp>
        <p:nvSpPr>
          <p:cNvPr id="5" name="Shape 3"/>
          <p:cNvSpPr/>
          <p:nvPr/>
        </p:nvSpPr>
        <p:spPr>
          <a:xfrm>
            <a:off x="502920" y="1463040"/>
            <a:ext cx="1371600" cy="1463040"/>
          </a:xfrm>
          <a:prstGeom prst="roundRect">
            <a:avLst>
              <a:gd name="adj" fmla="val 6667"/>
            </a:avLst>
          </a:prstGeom>
          <a:solidFill>
            <a:srgbClr val="0D47A1"/>
          </a:solidFill>
          <a:ln/>
        </p:spPr>
        <p:txBody>
          <a:bodyPr/>
          <a:lstStyle/>
          <a:p>
            <a:endParaRPr lang="zh-CN" altLang="en-US"/>
          </a:p>
        </p:txBody>
      </p:sp>
      <p:sp>
        <p:nvSpPr>
          <p:cNvPr id="6" name="Text 4"/>
          <p:cNvSpPr/>
          <p:nvPr/>
        </p:nvSpPr>
        <p:spPr>
          <a:xfrm>
            <a:off x="502920" y="1188720"/>
            <a:ext cx="1371600" cy="274320"/>
          </a:xfrm>
          <a:prstGeom prst="rect">
            <a:avLst/>
          </a:prstGeom>
          <a:noFill/>
          <a:ln/>
        </p:spPr>
        <p:txBody>
          <a:bodyPr wrap="square" rtlCol="0" anchor="b"/>
          <a:lstStyle/>
          <a:p>
            <a:pPr marL="0" indent="0" algn="ctr">
              <a:buNone/>
            </a:pPr>
            <a:r>
              <a:rPr lang="en-US" sz="1000" b="1" dirty="0">
                <a:solidFill>
                  <a:srgbClr val="0D47A1"/>
                </a:solidFill>
                <a:latin typeface="Calibri" pitchFamily="34" charset="0"/>
                <a:ea typeface="Calibri" pitchFamily="34" charset="-122"/>
                <a:cs typeface="Calibri" pitchFamily="34" charset="-120"/>
              </a:rPr>
              <a:t>1</a:t>
            </a:r>
            <a:endParaRPr lang="en-US" sz="1000" dirty="0"/>
          </a:p>
        </p:txBody>
      </p:sp>
      <p:sp>
        <p:nvSpPr>
          <p:cNvPr id="7" name="Text 5"/>
          <p:cNvSpPr/>
          <p:nvPr/>
        </p:nvSpPr>
        <p:spPr>
          <a:xfrm>
            <a:off x="502920" y="1600200"/>
            <a:ext cx="137160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数学建模</a:t>
            </a:r>
            <a:endParaRPr lang="en-US" sz="1100" dirty="0"/>
          </a:p>
        </p:txBody>
      </p:sp>
      <p:sp>
        <p:nvSpPr>
          <p:cNvPr id="8" name="Text 6"/>
          <p:cNvSpPr/>
          <p:nvPr/>
        </p:nvSpPr>
        <p:spPr>
          <a:xfrm>
            <a:off x="576072" y="2011680"/>
            <a:ext cx="1225296" cy="822960"/>
          </a:xfrm>
          <a:prstGeom prst="rect">
            <a:avLst/>
          </a:prstGeom>
          <a:noFill/>
          <a:ln/>
        </p:spPr>
        <p:txBody>
          <a:bodyPr wrap="square" rtlCol="0" anchor="t"/>
          <a:lstStyle/>
          <a:p>
            <a:pPr marL="0" indent="0" algn="ctr">
              <a:buNone/>
            </a:pPr>
            <a:r>
              <a:rPr lang="en-US" sz="850" dirty="0">
                <a:solidFill>
                  <a:srgbClr val="FFFFFF"/>
                </a:solidFill>
                <a:latin typeface="Calibri" pitchFamily="34" charset="0"/>
                <a:ea typeface="Calibri" pitchFamily="34" charset="-122"/>
                <a:cs typeface="Calibri" pitchFamily="34" charset="-120"/>
              </a:rPr>
              <a:t>建立热力学</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微分方程模型</a:t>
            </a:r>
            <a:endParaRPr lang="en-US" sz="850" dirty="0"/>
          </a:p>
        </p:txBody>
      </p:sp>
      <p:sp>
        <p:nvSpPr>
          <p:cNvPr id="9" name="Shape 7"/>
          <p:cNvSpPr/>
          <p:nvPr/>
        </p:nvSpPr>
        <p:spPr>
          <a:xfrm>
            <a:off x="1892808" y="2084832"/>
            <a:ext cx="283464" cy="219456"/>
          </a:xfrm>
          <a:prstGeom prst="rightArrow">
            <a:avLst/>
          </a:prstGeom>
          <a:solidFill>
            <a:srgbClr val="0D47A1"/>
          </a:solidFill>
          <a:ln/>
        </p:spPr>
        <p:txBody>
          <a:bodyPr/>
          <a:lstStyle/>
          <a:p>
            <a:endParaRPr lang="zh-CN" altLang="en-US"/>
          </a:p>
        </p:txBody>
      </p:sp>
      <p:sp>
        <p:nvSpPr>
          <p:cNvPr id="10" name="Shape 8"/>
          <p:cNvSpPr/>
          <p:nvPr/>
        </p:nvSpPr>
        <p:spPr>
          <a:xfrm>
            <a:off x="2194560" y="1463040"/>
            <a:ext cx="1371600" cy="1463040"/>
          </a:xfrm>
          <a:prstGeom prst="roundRect">
            <a:avLst>
              <a:gd name="adj" fmla="val 6667"/>
            </a:avLst>
          </a:prstGeom>
          <a:solidFill>
            <a:srgbClr val="42A5F5"/>
          </a:solidFill>
          <a:ln/>
        </p:spPr>
        <p:txBody>
          <a:bodyPr/>
          <a:lstStyle/>
          <a:p>
            <a:endParaRPr lang="zh-CN" altLang="en-US"/>
          </a:p>
        </p:txBody>
      </p:sp>
      <p:sp>
        <p:nvSpPr>
          <p:cNvPr id="11" name="Text 9"/>
          <p:cNvSpPr/>
          <p:nvPr/>
        </p:nvSpPr>
        <p:spPr>
          <a:xfrm>
            <a:off x="2194560" y="1188720"/>
            <a:ext cx="1371600" cy="274320"/>
          </a:xfrm>
          <a:prstGeom prst="rect">
            <a:avLst/>
          </a:prstGeom>
          <a:noFill/>
          <a:ln/>
        </p:spPr>
        <p:txBody>
          <a:bodyPr wrap="square" rtlCol="0" anchor="b"/>
          <a:lstStyle/>
          <a:p>
            <a:pPr marL="0" indent="0" algn="ctr">
              <a:buNone/>
            </a:pPr>
            <a:r>
              <a:rPr lang="en-US" sz="1000" b="1" dirty="0">
                <a:solidFill>
                  <a:srgbClr val="0D47A1"/>
                </a:solidFill>
                <a:latin typeface="Calibri" pitchFamily="34" charset="0"/>
                <a:ea typeface="Calibri" pitchFamily="34" charset="-122"/>
                <a:cs typeface="Calibri" pitchFamily="34" charset="-120"/>
              </a:rPr>
              <a:t>2</a:t>
            </a:r>
            <a:endParaRPr lang="en-US" sz="1000" dirty="0"/>
          </a:p>
        </p:txBody>
      </p:sp>
      <p:sp>
        <p:nvSpPr>
          <p:cNvPr id="12" name="Text 10"/>
          <p:cNvSpPr/>
          <p:nvPr/>
        </p:nvSpPr>
        <p:spPr>
          <a:xfrm>
            <a:off x="2194560" y="1600200"/>
            <a:ext cx="137160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田口正交实验</a:t>
            </a:r>
            <a:endParaRPr lang="en-US" sz="1100" dirty="0"/>
          </a:p>
        </p:txBody>
      </p:sp>
      <p:sp>
        <p:nvSpPr>
          <p:cNvPr id="13" name="Text 11"/>
          <p:cNvSpPr/>
          <p:nvPr/>
        </p:nvSpPr>
        <p:spPr>
          <a:xfrm>
            <a:off x="2267712" y="2011680"/>
            <a:ext cx="1225296" cy="822960"/>
          </a:xfrm>
          <a:prstGeom prst="rect">
            <a:avLst/>
          </a:prstGeom>
          <a:noFill/>
          <a:ln/>
        </p:spPr>
        <p:txBody>
          <a:bodyPr wrap="square" rtlCol="0" anchor="t"/>
          <a:lstStyle/>
          <a:p>
            <a:pPr marL="0" indent="0" algn="ctr">
              <a:buNone/>
            </a:pPr>
            <a:r>
              <a:rPr lang="en-US" sz="850" dirty="0">
                <a:solidFill>
                  <a:srgbClr val="FFFFFF"/>
                </a:solidFill>
                <a:latin typeface="Calibri" pitchFamily="34" charset="0"/>
                <a:ea typeface="Calibri" pitchFamily="34" charset="-122"/>
                <a:cs typeface="Calibri" pitchFamily="34" charset="-120"/>
              </a:rPr>
              <a:t>L50正交表</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筛选关键因子</a:t>
            </a:r>
            <a:endParaRPr lang="en-US" sz="850" dirty="0"/>
          </a:p>
        </p:txBody>
      </p:sp>
      <p:sp>
        <p:nvSpPr>
          <p:cNvPr id="14" name="Shape 12"/>
          <p:cNvSpPr/>
          <p:nvPr/>
        </p:nvSpPr>
        <p:spPr>
          <a:xfrm>
            <a:off x="3584448" y="2084832"/>
            <a:ext cx="283464" cy="219456"/>
          </a:xfrm>
          <a:prstGeom prst="rightArrow">
            <a:avLst/>
          </a:prstGeom>
          <a:solidFill>
            <a:srgbClr val="0D47A1"/>
          </a:solidFill>
          <a:ln/>
        </p:spPr>
        <p:txBody>
          <a:bodyPr/>
          <a:lstStyle/>
          <a:p>
            <a:endParaRPr lang="zh-CN" altLang="en-US"/>
          </a:p>
        </p:txBody>
      </p:sp>
      <p:sp>
        <p:nvSpPr>
          <p:cNvPr id="15" name="Shape 13"/>
          <p:cNvSpPr/>
          <p:nvPr/>
        </p:nvSpPr>
        <p:spPr>
          <a:xfrm>
            <a:off x="3886200" y="1463040"/>
            <a:ext cx="1371600" cy="1463040"/>
          </a:xfrm>
          <a:prstGeom prst="roundRect">
            <a:avLst>
              <a:gd name="adj" fmla="val 6667"/>
            </a:avLst>
          </a:prstGeom>
          <a:solidFill>
            <a:srgbClr val="42A5F5"/>
          </a:solidFill>
          <a:ln/>
        </p:spPr>
        <p:txBody>
          <a:bodyPr/>
          <a:lstStyle/>
          <a:p>
            <a:endParaRPr lang="zh-CN" altLang="en-US"/>
          </a:p>
        </p:txBody>
      </p:sp>
      <p:sp>
        <p:nvSpPr>
          <p:cNvPr id="16" name="Text 14"/>
          <p:cNvSpPr/>
          <p:nvPr/>
        </p:nvSpPr>
        <p:spPr>
          <a:xfrm>
            <a:off x="3886200" y="1188720"/>
            <a:ext cx="1371600" cy="274320"/>
          </a:xfrm>
          <a:prstGeom prst="rect">
            <a:avLst/>
          </a:prstGeom>
          <a:noFill/>
          <a:ln/>
        </p:spPr>
        <p:txBody>
          <a:bodyPr wrap="square" rtlCol="0" anchor="b"/>
          <a:lstStyle/>
          <a:p>
            <a:pPr marL="0" indent="0" algn="ctr">
              <a:buNone/>
            </a:pPr>
            <a:r>
              <a:rPr lang="en-US" sz="1000" b="1" dirty="0">
                <a:solidFill>
                  <a:srgbClr val="0D47A1"/>
                </a:solidFill>
                <a:latin typeface="Calibri" pitchFamily="34" charset="0"/>
                <a:ea typeface="Calibri" pitchFamily="34" charset="-122"/>
                <a:cs typeface="Calibri" pitchFamily="34" charset="-120"/>
              </a:rPr>
              <a:t>3</a:t>
            </a:r>
            <a:endParaRPr lang="en-US" sz="1000" dirty="0"/>
          </a:p>
        </p:txBody>
      </p:sp>
      <p:sp>
        <p:nvSpPr>
          <p:cNvPr id="17" name="Text 15"/>
          <p:cNvSpPr/>
          <p:nvPr/>
        </p:nvSpPr>
        <p:spPr>
          <a:xfrm>
            <a:off x="3886200" y="1600200"/>
            <a:ext cx="137160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Python仿真</a:t>
            </a:r>
            <a:endParaRPr lang="en-US" sz="1100" dirty="0"/>
          </a:p>
        </p:txBody>
      </p:sp>
      <p:sp>
        <p:nvSpPr>
          <p:cNvPr id="18" name="Text 16"/>
          <p:cNvSpPr/>
          <p:nvPr/>
        </p:nvSpPr>
        <p:spPr>
          <a:xfrm>
            <a:off x="3959352" y="2011680"/>
            <a:ext cx="1225296" cy="822960"/>
          </a:xfrm>
          <a:prstGeom prst="rect">
            <a:avLst/>
          </a:prstGeom>
          <a:noFill/>
          <a:ln/>
        </p:spPr>
        <p:txBody>
          <a:bodyPr wrap="square" rtlCol="0" anchor="t"/>
          <a:lstStyle/>
          <a:p>
            <a:pPr marL="0" indent="0" algn="ctr">
              <a:buNone/>
            </a:pPr>
            <a:r>
              <a:rPr lang="en-US" sz="850" dirty="0">
                <a:solidFill>
                  <a:srgbClr val="FFFFFF"/>
                </a:solidFill>
                <a:latin typeface="Calibri" pitchFamily="34" charset="0"/>
                <a:ea typeface="Calibri" pitchFamily="34" charset="-122"/>
                <a:cs typeface="Calibri" pitchFamily="34" charset="-120"/>
              </a:rPr>
              <a:t>数值求解</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计算能耗对比</a:t>
            </a:r>
            <a:endParaRPr lang="en-US" sz="850" dirty="0"/>
          </a:p>
        </p:txBody>
      </p:sp>
      <p:sp>
        <p:nvSpPr>
          <p:cNvPr id="19" name="Shape 17"/>
          <p:cNvSpPr/>
          <p:nvPr/>
        </p:nvSpPr>
        <p:spPr>
          <a:xfrm>
            <a:off x="5276088" y="2084832"/>
            <a:ext cx="283464" cy="219456"/>
          </a:xfrm>
          <a:prstGeom prst="rightArrow">
            <a:avLst/>
          </a:prstGeom>
          <a:solidFill>
            <a:srgbClr val="0D47A1"/>
          </a:solidFill>
          <a:ln/>
        </p:spPr>
        <p:txBody>
          <a:bodyPr/>
          <a:lstStyle/>
          <a:p>
            <a:endParaRPr lang="zh-CN" altLang="en-US"/>
          </a:p>
        </p:txBody>
      </p:sp>
      <p:sp>
        <p:nvSpPr>
          <p:cNvPr id="20" name="Shape 18"/>
          <p:cNvSpPr/>
          <p:nvPr/>
        </p:nvSpPr>
        <p:spPr>
          <a:xfrm>
            <a:off x="5577840" y="1463040"/>
            <a:ext cx="1371600" cy="1463040"/>
          </a:xfrm>
          <a:prstGeom prst="roundRect">
            <a:avLst>
              <a:gd name="adj" fmla="val 6667"/>
            </a:avLst>
          </a:prstGeom>
          <a:solidFill>
            <a:srgbClr val="42A5F5"/>
          </a:solidFill>
          <a:ln/>
        </p:spPr>
        <p:txBody>
          <a:bodyPr/>
          <a:lstStyle/>
          <a:p>
            <a:endParaRPr lang="zh-CN" altLang="en-US"/>
          </a:p>
        </p:txBody>
      </p:sp>
      <p:sp>
        <p:nvSpPr>
          <p:cNvPr id="21" name="Text 19"/>
          <p:cNvSpPr/>
          <p:nvPr/>
        </p:nvSpPr>
        <p:spPr>
          <a:xfrm>
            <a:off x="5577840" y="1188720"/>
            <a:ext cx="1371600" cy="274320"/>
          </a:xfrm>
          <a:prstGeom prst="rect">
            <a:avLst/>
          </a:prstGeom>
          <a:noFill/>
          <a:ln/>
        </p:spPr>
        <p:txBody>
          <a:bodyPr wrap="square" rtlCol="0" anchor="b"/>
          <a:lstStyle/>
          <a:p>
            <a:pPr marL="0" indent="0" algn="ctr">
              <a:buNone/>
            </a:pPr>
            <a:r>
              <a:rPr lang="en-US" sz="1000" b="1" dirty="0">
                <a:solidFill>
                  <a:srgbClr val="0D47A1"/>
                </a:solidFill>
                <a:latin typeface="Calibri" pitchFamily="34" charset="0"/>
                <a:ea typeface="Calibri" pitchFamily="34" charset="-122"/>
                <a:cs typeface="Calibri" pitchFamily="34" charset="-120"/>
              </a:rPr>
              <a:t>4</a:t>
            </a:r>
            <a:endParaRPr lang="en-US" sz="1000" dirty="0"/>
          </a:p>
        </p:txBody>
      </p:sp>
      <p:sp>
        <p:nvSpPr>
          <p:cNvPr id="22" name="Text 20"/>
          <p:cNvSpPr/>
          <p:nvPr/>
        </p:nvSpPr>
        <p:spPr>
          <a:xfrm>
            <a:off x="5577840" y="1600200"/>
            <a:ext cx="137160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二分法搜索</a:t>
            </a:r>
            <a:endParaRPr lang="en-US" sz="1100" dirty="0"/>
          </a:p>
        </p:txBody>
      </p:sp>
      <p:sp>
        <p:nvSpPr>
          <p:cNvPr id="23" name="Text 21"/>
          <p:cNvSpPr/>
          <p:nvPr/>
        </p:nvSpPr>
        <p:spPr>
          <a:xfrm>
            <a:off x="5650992" y="2011680"/>
            <a:ext cx="1225296" cy="822960"/>
          </a:xfrm>
          <a:prstGeom prst="rect">
            <a:avLst/>
          </a:prstGeom>
          <a:noFill/>
          <a:ln/>
        </p:spPr>
        <p:txBody>
          <a:bodyPr wrap="square" rtlCol="0" anchor="t"/>
          <a:lstStyle/>
          <a:p>
            <a:pPr marL="0" indent="0" algn="ctr">
              <a:buNone/>
            </a:pPr>
            <a:r>
              <a:rPr lang="en-US" sz="850" dirty="0">
                <a:solidFill>
                  <a:srgbClr val="FFFFFF"/>
                </a:solidFill>
                <a:latin typeface="Calibri" pitchFamily="34" charset="0"/>
                <a:ea typeface="Calibri" pitchFamily="34" charset="-122"/>
                <a:cs typeface="Calibri" pitchFamily="34" charset="-120"/>
              </a:rPr>
              <a:t>精确搜索</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临界外出时长</a:t>
            </a:r>
            <a:endParaRPr lang="en-US" sz="850" dirty="0"/>
          </a:p>
        </p:txBody>
      </p:sp>
      <p:sp>
        <p:nvSpPr>
          <p:cNvPr id="24" name="Shape 22"/>
          <p:cNvSpPr/>
          <p:nvPr/>
        </p:nvSpPr>
        <p:spPr>
          <a:xfrm>
            <a:off x="6967728" y="2084832"/>
            <a:ext cx="283464" cy="219456"/>
          </a:xfrm>
          <a:prstGeom prst="rightArrow">
            <a:avLst/>
          </a:prstGeom>
          <a:solidFill>
            <a:srgbClr val="0D47A1"/>
          </a:solidFill>
          <a:ln/>
        </p:spPr>
        <p:txBody>
          <a:bodyPr/>
          <a:lstStyle/>
          <a:p>
            <a:endParaRPr lang="zh-CN" altLang="en-US"/>
          </a:p>
        </p:txBody>
      </p:sp>
      <p:sp>
        <p:nvSpPr>
          <p:cNvPr id="25" name="Shape 23"/>
          <p:cNvSpPr/>
          <p:nvPr/>
        </p:nvSpPr>
        <p:spPr>
          <a:xfrm>
            <a:off x="7269480" y="1463040"/>
            <a:ext cx="1371600" cy="1463040"/>
          </a:xfrm>
          <a:prstGeom prst="roundRect">
            <a:avLst>
              <a:gd name="adj" fmla="val 6667"/>
            </a:avLst>
          </a:prstGeom>
          <a:solidFill>
            <a:srgbClr val="0D47A1"/>
          </a:solidFill>
          <a:ln/>
        </p:spPr>
        <p:txBody>
          <a:bodyPr/>
          <a:lstStyle/>
          <a:p>
            <a:endParaRPr lang="zh-CN" altLang="en-US"/>
          </a:p>
        </p:txBody>
      </p:sp>
      <p:sp>
        <p:nvSpPr>
          <p:cNvPr id="26" name="Text 24"/>
          <p:cNvSpPr/>
          <p:nvPr/>
        </p:nvSpPr>
        <p:spPr>
          <a:xfrm>
            <a:off x="7269480" y="1188720"/>
            <a:ext cx="1371600" cy="274320"/>
          </a:xfrm>
          <a:prstGeom prst="rect">
            <a:avLst/>
          </a:prstGeom>
          <a:noFill/>
          <a:ln/>
        </p:spPr>
        <p:txBody>
          <a:bodyPr wrap="square" rtlCol="0" anchor="b"/>
          <a:lstStyle/>
          <a:p>
            <a:pPr marL="0" indent="0" algn="ctr">
              <a:buNone/>
            </a:pPr>
            <a:r>
              <a:rPr lang="en-US" sz="1000" b="1" dirty="0">
                <a:solidFill>
                  <a:srgbClr val="0D47A1"/>
                </a:solidFill>
                <a:latin typeface="Calibri" pitchFamily="34" charset="0"/>
                <a:ea typeface="Calibri" pitchFamily="34" charset="-122"/>
                <a:cs typeface="Calibri" pitchFamily="34" charset="-120"/>
              </a:rPr>
              <a:t>5</a:t>
            </a:r>
            <a:endParaRPr lang="en-US" sz="1000" dirty="0"/>
          </a:p>
        </p:txBody>
      </p:sp>
      <p:sp>
        <p:nvSpPr>
          <p:cNvPr id="27" name="Text 25"/>
          <p:cNvSpPr/>
          <p:nvPr/>
        </p:nvSpPr>
        <p:spPr>
          <a:xfrm>
            <a:off x="7269480" y="1600200"/>
            <a:ext cx="137160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综合分析</a:t>
            </a:r>
            <a:endParaRPr lang="en-US" sz="1100" dirty="0"/>
          </a:p>
        </p:txBody>
      </p:sp>
      <p:sp>
        <p:nvSpPr>
          <p:cNvPr id="28" name="Text 26"/>
          <p:cNvSpPr/>
          <p:nvPr/>
        </p:nvSpPr>
        <p:spPr>
          <a:xfrm>
            <a:off x="7342632" y="2011680"/>
            <a:ext cx="1225296" cy="822960"/>
          </a:xfrm>
          <a:prstGeom prst="rect">
            <a:avLst/>
          </a:prstGeom>
          <a:noFill/>
          <a:ln/>
        </p:spPr>
        <p:txBody>
          <a:bodyPr wrap="square" rtlCol="0" anchor="t"/>
          <a:lstStyle/>
          <a:p>
            <a:pPr marL="0" indent="0" algn="ctr">
              <a:buNone/>
            </a:pPr>
            <a:r>
              <a:rPr lang="en-US" sz="850" dirty="0">
                <a:solidFill>
                  <a:srgbClr val="FFFFFF"/>
                </a:solidFill>
                <a:latin typeface="Calibri" pitchFamily="34" charset="0"/>
                <a:ea typeface="Calibri" pitchFamily="34" charset="-122"/>
                <a:cs typeface="Calibri" pitchFamily="34" charset="-120"/>
              </a:rPr>
              <a:t>敏感性分析</a:t>
            </a:r>
            <a:endParaRPr lang="en-US" sz="850" dirty="0"/>
          </a:p>
          <a:p>
            <a:pPr marL="0" indent="0" algn="ctr">
              <a:buNone/>
            </a:pPr>
            <a:r>
              <a:rPr lang="en-US" sz="850" dirty="0">
                <a:solidFill>
                  <a:srgbClr val="FFFFFF"/>
                </a:solidFill>
                <a:latin typeface="Calibri" pitchFamily="34" charset="0"/>
                <a:ea typeface="Calibri" pitchFamily="34" charset="-122"/>
                <a:cs typeface="Calibri" pitchFamily="34" charset="-120"/>
              </a:rPr>
              <a:t>影响力评估</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txBody>
          <a:bodyPr/>
          <a:lstStyle/>
          <a:p>
            <a:endParaRPr lang="zh-CN" altLang="en-US"/>
          </a:p>
        </p:txBody>
      </p:sp>
      <p:sp>
        <p:nvSpPr>
          <p:cNvPr id="3" name="Text 1"/>
          <p:cNvSpPr/>
          <p:nvPr/>
        </p:nvSpPr>
        <p:spPr>
          <a:xfrm>
            <a:off x="457200" y="45720"/>
            <a:ext cx="8229600" cy="548640"/>
          </a:xfrm>
          <a:prstGeom prst="rect">
            <a:avLst/>
          </a:prstGeom>
          <a:noFill/>
          <a:ln/>
        </p:spPr>
        <p:txBody>
          <a:bodyPr wrap="square"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数学模型 (1/5)：牛顿冷却定律</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marL="0" indent="0" algn="r">
              <a:buNone/>
            </a:pPr>
            <a:r>
              <a:rPr lang="en-US" sz="800" dirty="0">
                <a:solidFill>
                  <a:srgbClr val="999999"/>
                </a:solidFill>
                <a:latin typeface="Calibri" pitchFamily="34" charset="0"/>
                <a:ea typeface="Calibri" pitchFamily="34" charset="-122"/>
                <a:cs typeface="Calibri" pitchFamily="34" charset="-120"/>
              </a:rPr>
              <a:t>5 / 25</a:t>
            </a:r>
            <a:endParaRPr lang="en-US" sz="800" dirty="0"/>
          </a:p>
        </p:txBody>
      </p:sp>
      <p:pic>
        <p:nvPicPr>
          <p:cNvPr id="5" name="Image 0" descr="preencoded.png"/>
          <p:cNvPicPr>
            <a:picLocks noChangeAspect="1"/>
          </p:cNvPicPr>
          <p:nvPr/>
        </p:nvPicPr>
        <p:blipFill>
          <a:blip r:embed="rId3"/>
          <a:stretch>
            <a:fillRect/>
          </a:stretch>
        </p:blipFill>
        <p:spPr>
          <a:xfrm>
            <a:off x="1024128" y="1004697"/>
            <a:ext cx="2980944" cy="1865376"/>
          </a:xfrm>
          <a:prstGeom prst="rect">
            <a:avLst/>
          </a:prstGeom>
        </p:spPr>
      </p:pic>
      <p:pic>
        <p:nvPicPr>
          <p:cNvPr id="6" name="Image 1" descr="preencoded.png"/>
          <p:cNvPicPr>
            <a:picLocks noChangeAspect="1"/>
          </p:cNvPicPr>
          <p:nvPr/>
        </p:nvPicPr>
        <p:blipFill>
          <a:blip r:embed="rId4"/>
          <a:stretch>
            <a:fillRect/>
          </a:stretch>
        </p:blipFill>
        <p:spPr>
          <a:xfrm>
            <a:off x="1024128" y="3007233"/>
            <a:ext cx="2980944" cy="1865376"/>
          </a:xfrm>
          <a:prstGeom prst="rect">
            <a:avLst/>
          </a:prstGeom>
        </p:spPr>
      </p:pic>
      <p:sp>
        <p:nvSpPr>
          <p:cNvPr id="7" name="Shape 3"/>
          <p:cNvSpPr/>
          <p:nvPr/>
        </p:nvSpPr>
        <p:spPr>
          <a:xfrm>
            <a:off x="4754880" y="1005840"/>
            <a:ext cx="3931920" cy="3474720"/>
          </a:xfrm>
          <a:prstGeom prst="roundRect">
            <a:avLst>
              <a:gd name="adj" fmla="val 2632"/>
            </a:avLst>
          </a:prstGeom>
          <a:solidFill>
            <a:srgbClr val="F5F7FA"/>
          </a:solidFill>
          <a:ln w="6350">
            <a:solidFill>
              <a:srgbClr val="42A5F5"/>
            </a:solidFill>
            <a:prstDash val="solid"/>
          </a:ln>
        </p:spPr>
        <p:txBody>
          <a:bodyPr/>
          <a:lstStyle/>
          <a:p>
            <a:endParaRPr lang="zh-CN" altLang="en-US"/>
          </a:p>
        </p:txBody>
      </p:sp>
      <p:sp>
        <p:nvSpPr>
          <p:cNvPr id="8" name="Text 4"/>
          <p:cNvSpPr/>
          <p:nvPr/>
        </p:nvSpPr>
        <p:spPr>
          <a:xfrm>
            <a:off x="4892040" y="1097280"/>
            <a:ext cx="3657600" cy="320040"/>
          </a:xfrm>
          <a:prstGeom prst="rect">
            <a:avLst/>
          </a:prstGeom>
          <a:noFill/>
          <a:ln/>
        </p:spPr>
        <p:txBody>
          <a:bodyPr wrap="square" rtlCol="0" anchor="ctr"/>
          <a:lstStyle/>
          <a:p>
            <a:pPr marL="0" indent="0">
              <a:buNone/>
            </a:pPr>
            <a:r>
              <a:rPr lang="en-US" sz="1200" b="1" dirty="0">
                <a:solidFill>
                  <a:srgbClr val="0D47A1"/>
                </a:solidFill>
                <a:latin typeface="Calibri" pitchFamily="34" charset="0"/>
                <a:ea typeface="Calibri" pitchFamily="34" charset="-122"/>
                <a:cs typeface="Calibri" pitchFamily="34" charset="-120"/>
              </a:rPr>
              <a:t>公式解读</a:t>
            </a:r>
            <a:endParaRPr lang="en-US" sz="1200" dirty="0"/>
          </a:p>
        </p:txBody>
      </p:sp>
      <p:sp>
        <p:nvSpPr>
          <p:cNvPr id="9" name="Text 5"/>
          <p:cNvSpPr/>
          <p:nvPr/>
        </p:nvSpPr>
        <p:spPr>
          <a:xfrm>
            <a:off x="4892040" y="1463040"/>
            <a:ext cx="3657600" cy="2834640"/>
          </a:xfrm>
          <a:prstGeom prst="rect">
            <a:avLst/>
          </a:prstGeom>
          <a:noFill/>
          <a:ln/>
        </p:spPr>
        <p:txBody>
          <a:bodyPr wrap="square" rtlCol="0" anchor="t"/>
          <a:lstStyle/>
          <a:p>
            <a:pPr marL="0" indent="0">
              <a:lnSpc>
                <a:spcPct val="140000"/>
              </a:lnSpc>
              <a:buNone/>
            </a:pPr>
            <a:r>
              <a:rPr lang="en-US" sz="1000" dirty="0">
                <a:solidFill>
                  <a:srgbClr val="212121"/>
                </a:solidFill>
                <a:latin typeface="Calibri" pitchFamily="34" charset="0"/>
                <a:ea typeface="Calibri" pitchFamily="34" charset="-122"/>
                <a:cs typeface="Calibri" pitchFamily="34" charset="-120"/>
              </a:rPr>
              <a:t>关机后室内温度按指数规律趋近室外环境温度，建筑围护结构热时间常数 τ 决定回升速率。</a:t>
            </a:r>
            <a:endParaRPr lang="en-US" sz="1000" dirty="0"/>
          </a:p>
          <a:p>
            <a:pPr marL="0" indent="0">
              <a:lnSpc>
                <a:spcPct val="140000"/>
              </a:lnSpc>
              <a:buNone/>
            </a:pPr>
            <a:endParaRPr lang="en-US" sz="1000" dirty="0"/>
          </a:p>
          <a:p>
            <a:pPr marL="0" indent="0">
              <a:lnSpc>
                <a:spcPct val="140000"/>
              </a:lnSpc>
              <a:buNone/>
            </a:pPr>
            <a:r>
              <a:rPr lang="en-US" sz="1000" dirty="0">
                <a:solidFill>
                  <a:srgbClr val="212121"/>
                </a:solidFill>
                <a:latin typeface="Calibri" pitchFamily="34" charset="0"/>
                <a:ea typeface="Calibri" pitchFamily="34" charset="-122"/>
                <a:cs typeface="Calibri" pitchFamily="34" charset="-120"/>
              </a:rPr>
              <a:t>• τ 越大，建筑热惯性越强，室温回升越缓慢</a:t>
            </a:r>
            <a:endParaRPr lang="en-US" sz="1000" dirty="0"/>
          </a:p>
          <a:p>
            <a:pPr marL="0" indent="0">
              <a:lnSpc>
                <a:spcPct val="140000"/>
              </a:lnSpc>
              <a:buNone/>
            </a:pPr>
            <a:r>
              <a:rPr lang="en-US" sz="1000" dirty="0">
                <a:solidFill>
                  <a:srgbClr val="212121"/>
                </a:solidFill>
                <a:latin typeface="Calibri" pitchFamily="34" charset="0"/>
                <a:ea typeface="Calibri" pitchFamily="34" charset="-122"/>
                <a:cs typeface="Calibri" pitchFamily="34" charset="-120"/>
              </a:rPr>
              <a:t>• τ 越小，建筑保温性能差，室温快速趋近室外温度</a:t>
            </a:r>
            <a:endParaRPr lang="en-US" sz="1000" dirty="0"/>
          </a:p>
          <a:p>
            <a:pPr marL="0" indent="0">
              <a:lnSpc>
                <a:spcPct val="140000"/>
              </a:lnSpc>
              <a:buNone/>
            </a:pPr>
            <a:endParaRPr lang="en-US" sz="1000" dirty="0"/>
          </a:p>
          <a:p>
            <a:pPr marL="0" indent="0">
              <a:lnSpc>
                <a:spcPct val="140000"/>
              </a:lnSpc>
              <a:buNone/>
            </a:pPr>
            <a:r>
              <a:rPr lang="en-US" sz="1000" dirty="0">
                <a:solidFill>
                  <a:srgbClr val="212121"/>
                </a:solidFill>
                <a:latin typeface="Calibri" pitchFamily="34" charset="0"/>
                <a:ea typeface="Calibri" pitchFamily="34" charset="-122"/>
                <a:cs typeface="Calibri" pitchFamily="34" charset="-120"/>
              </a:rPr>
              <a:t>该公式是整个能耗模型的基础，描述了空调关机后室内热环境的自然演变过程。</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txBody>
          <a:bodyPr/>
          <a:lstStyle/>
          <a:p>
            <a:endParaRPr lang="zh-CN" altLang="en-US"/>
          </a:p>
        </p:txBody>
      </p:sp>
      <p:sp>
        <p:nvSpPr>
          <p:cNvPr id="3" name="Text 1"/>
          <p:cNvSpPr/>
          <p:nvPr/>
        </p:nvSpPr>
        <p:spPr>
          <a:xfrm>
            <a:off x="457200" y="45720"/>
            <a:ext cx="8229600" cy="548640"/>
          </a:xfrm>
          <a:prstGeom prst="rect">
            <a:avLst/>
          </a:prstGeom>
          <a:noFill/>
          <a:ln/>
        </p:spPr>
        <p:txBody>
          <a:bodyPr wrap="square"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数学模型 (2/5)：恒温持续运行能耗模型</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marL="0" indent="0" algn="r">
              <a:buNone/>
            </a:pPr>
            <a:r>
              <a:rPr lang="en-US" sz="800" dirty="0">
                <a:solidFill>
                  <a:srgbClr val="999999"/>
                </a:solidFill>
                <a:latin typeface="Calibri" pitchFamily="34" charset="0"/>
                <a:ea typeface="Calibri" pitchFamily="34" charset="-122"/>
                <a:cs typeface="Calibri" pitchFamily="34" charset="-120"/>
              </a:rPr>
              <a:t>6 / 25</a:t>
            </a:r>
            <a:endParaRPr lang="en-US" sz="800" dirty="0"/>
          </a:p>
        </p:txBody>
      </p:sp>
      <p:pic>
        <p:nvPicPr>
          <p:cNvPr id="5" name="Image 0" descr="preencoded.png"/>
          <p:cNvPicPr>
            <a:picLocks noChangeAspect="1"/>
          </p:cNvPicPr>
          <p:nvPr/>
        </p:nvPicPr>
        <p:blipFill>
          <a:blip r:embed="rId3"/>
          <a:stretch>
            <a:fillRect/>
          </a:stretch>
        </p:blipFill>
        <p:spPr>
          <a:xfrm>
            <a:off x="1024128" y="1004697"/>
            <a:ext cx="2980944" cy="1865376"/>
          </a:xfrm>
          <a:prstGeom prst="rect">
            <a:avLst/>
          </a:prstGeom>
        </p:spPr>
      </p:pic>
      <p:pic>
        <p:nvPicPr>
          <p:cNvPr id="6" name="Image 1" descr="preencoded.png"/>
          <p:cNvPicPr>
            <a:picLocks noChangeAspect="1"/>
          </p:cNvPicPr>
          <p:nvPr/>
        </p:nvPicPr>
        <p:blipFill>
          <a:blip r:embed="rId4"/>
          <a:stretch>
            <a:fillRect/>
          </a:stretch>
        </p:blipFill>
        <p:spPr>
          <a:xfrm>
            <a:off x="1024128" y="3007233"/>
            <a:ext cx="2980944" cy="1865376"/>
          </a:xfrm>
          <a:prstGeom prst="rect">
            <a:avLst/>
          </a:prstGeom>
        </p:spPr>
      </p:pic>
      <p:sp>
        <p:nvSpPr>
          <p:cNvPr id="7" name="Shape 3"/>
          <p:cNvSpPr/>
          <p:nvPr/>
        </p:nvSpPr>
        <p:spPr>
          <a:xfrm>
            <a:off x="4754880" y="1005840"/>
            <a:ext cx="3931920" cy="3474720"/>
          </a:xfrm>
          <a:prstGeom prst="roundRect">
            <a:avLst>
              <a:gd name="adj" fmla="val 2632"/>
            </a:avLst>
          </a:prstGeom>
          <a:solidFill>
            <a:srgbClr val="F5F7FA"/>
          </a:solidFill>
          <a:ln w="6350">
            <a:solidFill>
              <a:srgbClr val="42A5F5"/>
            </a:solidFill>
            <a:prstDash val="solid"/>
          </a:ln>
        </p:spPr>
        <p:txBody>
          <a:bodyPr/>
          <a:lstStyle/>
          <a:p>
            <a:endParaRPr lang="zh-CN" altLang="en-US"/>
          </a:p>
        </p:txBody>
      </p:sp>
      <p:sp>
        <p:nvSpPr>
          <p:cNvPr id="8" name="Text 4"/>
          <p:cNvSpPr/>
          <p:nvPr/>
        </p:nvSpPr>
        <p:spPr>
          <a:xfrm>
            <a:off x="4892040" y="1097280"/>
            <a:ext cx="3657600" cy="320040"/>
          </a:xfrm>
          <a:prstGeom prst="rect">
            <a:avLst/>
          </a:prstGeom>
          <a:noFill/>
          <a:ln/>
        </p:spPr>
        <p:txBody>
          <a:bodyPr wrap="square" rtlCol="0" anchor="ctr"/>
          <a:lstStyle/>
          <a:p>
            <a:pPr marL="0" indent="0">
              <a:buNone/>
            </a:pPr>
            <a:r>
              <a:rPr lang="en-US" sz="1200" b="1" dirty="0">
                <a:solidFill>
                  <a:srgbClr val="0D47A1"/>
                </a:solidFill>
                <a:latin typeface="Calibri" pitchFamily="34" charset="0"/>
                <a:ea typeface="Calibri" pitchFamily="34" charset="-122"/>
                <a:cs typeface="Calibri" pitchFamily="34" charset="-120"/>
              </a:rPr>
              <a:t>公式解读</a:t>
            </a:r>
            <a:endParaRPr lang="en-US" sz="1200" dirty="0"/>
          </a:p>
        </p:txBody>
      </p:sp>
      <p:sp>
        <p:nvSpPr>
          <p:cNvPr id="9" name="Text 5"/>
          <p:cNvSpPr/>
          <p:nvPr/>
        </p:nvSpPr>
        <p:spPr>
          <a:xfrm>
            <a:off x="4892040" y="1463040"/>
            <a:ext cx="3657600" cy="2834640"/>
          </a:xfrm>
          <a:prstGeom prst="rect">
            <a:avLst/>
          </a:prstGeom>
          <a:noFill/>
          <a:ln/>
        </p:spPr>
        <p:txBody>
          <a:bodyPr wrap="square" rtlCol="0" anchor="t"/>
          <a:lstStyle/>
          <a:p>
            <a:pPr marL="0" indent="0">
              <a:lnSpc>
                <a:spcPct val="140000"/>
              </a:lnSpc>
              <a:buNone/>
            </a:pPr>
            <a:r>
              <a:rPr lang="en-US" sz="1000" dirty="0">
                <a:solidFill>
                  <a:srgbClr val="212121"/>
                </a:solidFill>
                <a:latin typeface="Calibri" pitchFamily="34" charset="0"/>
                <a:ea typeface="Calibri" pitchFamily="34" charset="-122"/>
                <a:cs typeface="Calibri" pitchFamily="34" charset="-120"/>
              </a:rPr>
              <a:t>恒温运行维持功率与室内外温差成正比，与空调能效比成反比。</a:t>
            </a:r>
            <a:endParaRPr lang="en-US" sz="1000" dirty="0"/>
          </a:p>
          <a:p>
            <a:pPr marL="0" indent="0">
              <a:lnSpc>
                <a:spcPct val="140000"/>
              </a:lnSpc>
              <a:buNone/>
            </a:pPr>
            <a:endParaRPr lang="en-US" sz="1000" dirty="0"/>
          </a:p>
          <a:p>
            <a:pPr marL="0" indent="0">
              <a:lnSpc>
                <a:spcPct val="140000"/>
              </a:lnSpc>
              <a:buNone/>
            </a:pPr>
            <a:r>
              <a:rPr lang="en-US" sz="1000" dirty="0">
                <a:solidFill>
                  <a:srgbClr val="212121"/>
                </a:solidFill>
                <a:latin typeface="Calibri" pitchFamily="34" charset="0"/>
                <a:ea typeface="Calibri" pitchFamily="34" charset="-122"/>
                <a:cs typeface="Calibri" pitchFamily="34" charset="-120"/>
              </a:rPr>
              <a:t>• 温差（T_out - T_set）越大，维持恒定温度所需功率越高</a:t>
            </a:r>
            <a:endParaRPr lang="en-US" sz="1000" dirty="0"/>
          </a:p>
          <a:p>
            <a:pPr marL="0" indent="0">
              <a:lnSpc>
                <a:spcPct val="140000"/>
              </a:lnSpc>
              <a:buNone/>
            </a:pPr>
            <a:r>
              <a:rPr lang="en-US" sz="1000" dirty="0">
                <a:solidFill>
                  <a:srgbClr val="212121"/>
                </a:solidFill>
                <a:latin typeface="Calibri" pitchFamily="34" charset="0"/>
                <a:ea typeface="Calibri" pitchFamily="34" charset="-122"/>
                <a:cs typeface="Calibri" pitchFamily="34" charset="-120"/>
              </a:rPr>
              <a:t>• 能效比 COP 越高，单位制冷量耗电越少</a:t>
            </a:r>
            <a:endParaRPr lang="en-US" sz="1000" dirty="0"/>
          </a:p>
          <a:p>
            <a:pPr marL="0" indent="0">
              <a:lnSpc>
                <a:spcPct val="140000"/>
              </a:lnSpc>
              <a:buNone/>
            </a:pPr>
            <a:endParaRPr lang="en-US" sz="1000" dirty="0"/>
          </a:p>
          <a:p>
            <a:pPr marL="0" indent="0">
              <a:lnSpc>
                <a:spcPct val="140000"/>
              </a:lnSpc>
              <a:buNone/>
            </a:pPr>
            <a:r>
              <a:rPr lang="en-US" sz="1000" dirty="0">
                <a:solidFill>
                  <a:srgbClr val="212121"/>
                </a:solidFill>
                <a:latin typeface="Calibri" pitchFamily="34" charset="0"/>
                <a:ea typeface="Calibri" pitchFamily="34" charset="-122"/>
                <a:cs typeface="Calibri" pitchFamily="34" charset="-120"/>
              </a:rPr>
              <a:t>恒温运行的总耗电量 = 维持功率 × 外出时长，呈简单的线性关系。</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txBody>
          <a:bodyPr/>
          <a:lstStyle/>
          <a:p>
            <a:endParaRPr lang="zh-CN" altLang="en-US"/>
          </a:p>
        </p:txBody>
      </p:sp>
      <p:sp>
        <p:nvSpPr>
          <p:cNvPr id="3" name="Text 1"/>
          <p:cNvSpPr/>
          <p:nvPr/>
        </p:nvSpPr>
        <p:spPr>
          <a:xfrm>
            <a:off x="457200" y="45720"/>
            <a:ext cx="8229600" cy="548640"/>
          </a:xfrm>
          <a:prstGeom prst="rect">
            <a:avLst/>
          </a:prstGeom>
          <a:noFill/>
          <a:ln/>
        </p:spPr>
        <p:txBody>
          <a:bodyPr wrap="square"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数学模型 (3/5)：间歇关机重启能耗模型</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marL="0" indent="0" algn="r">
              <a:buNone/>
            </a:pPr>
            <a:r>
              <a:rPr lang="en-US" sz="800" dirty="0">
                <a:solidFill>
                  <a:srgbClr val="999999"/>
                </a:solidFill>
                <a:latin typeface="Calibri" pitchFamily="34" charset="0"/>
                <a:ea typeface="Calibri" pitchFamily="34" charset="-122"/>
                <a:cs typeface="Calibri" pitchFamily="34" charset="-120"/>
              </a:rPr>
              <a:t>7 / 25</a:t>
            </a:r>
            <a:endParaRPr lang="en-US" sz="800" dirty="0"/>
          </a:p>
        </p:txBody>
      </p:sp>
      <p:pic>
        <p:nvPicPr>
          <p:cNvPr id="5" name="Image 0" descr="preencoded.png"/>
          <p:cNvPicPr>
            <a:picLocks noChangeAspect="1"/>
          </p:cNvPicPr>
          <p:nvPr/>
        </p:nvPicPr>
        <p:blipFill>
          <a:blip r:embed="rId3"/>
          <a:stretch>
            <a:fillRect/>
          </a:stretch>
        </p:blipFill>
        <p:spPr>
          <a:xfrm>
            <a:off x="1024128" y="1004697"/>
            <a:ext cx="2980944" cy="1865376"/>
          </a:xfrm>
          <a:prstGeom prst="rect">
            <a:avLst/>
          </a:prstGeom>
        </p:spPr>
      </p:pic>
      <p:pic>
        <p:nvPicPr>
          <p:cNvPr id="6" name="Image 1" descr="preencoded.png"/>
          <p:cNvPicPr>
            <a:picLocks noChangeAspect="1"/>
          </p:cNvPicPr>
          <p:nvPr/>
        </p:nvPicPr>
        <p:blipFill>
          <a:blip r:embed="rId4"/>
          <a:stretch>
            <a:fillRect/>
          </a:stretch>
        </p:blipFill>
        <p:spPr>
          <a:xfrm>
            <a:off x="1024128" y="3007233"/>
            <a:ext cx="2980944" cy="1865376"/>
          </a:xfrm>
          <a:prstGeom prst="rect">
            <a:avLst/>
          </a:prstGeom>
        </p:spPr>
      </p:pic>
      <p:sp>
        <p:nvSpPr>
          <p:cNvPr id="7" name="Shape 3"/>
          <p:cNvSpPr/>
          <p:nvPr/>
        </p:nvSpPr>
        <p:spPr>
          <a:xfrm>
            <a:off x="4754880" y="1005840"/>
            <a:ext cx="3931920" cy="3474720"/>
          </a:xfrm>
          <a:prstGeom prst="roundRect">
            <a:avLst>
              <a:gd name="adj" fmla="val 2632"/>
            </a:avLst>
          </a:prstGeom>
          <a:solidFill>
            <a:srgbClr val="F5F7FA"/>
          </a:solidFill>
          <a:ln w="6350">
            <a:solidFill>
              <a:srgbClr val="42A5F5"/>
            </a:solidFill>
            <a:prstDash val="solid"/>
          </a:ln>
        </p:spPr>
        <p:txBody>
          <a:bodyPr/>
          <a:lstStyle/>
          <a:p>
            <a:endParaRPr lang="zh-CN" altLang="en-US"/>
          </a:p>
        </p:txBody>
      </p:sp>
      <p:sp>
        <p:nvSpPr>
          <p:cNvPr id="8" name="Text 4"/>
          <p:cNvSpPr/>
          <p:nvPr/>
        </p:nvSpPr>
        <p:spPr>
          <a:xfrm>
            <a:off x="4892040" y="1097280"/>
            <a:ext cx="3657600" cy="320040"/>
          </a:xfrm>
          <a:prstGeom prst="rect">
            <a:avLst/>
          </a:prstGeom>
          <a:noFill/>
          <a:ln/>
        </p:spPr>
        <p:txBody>
          <a:bodyPr wrap="square" rtlCol="0" anchor="ctr"/>
          <a:lstStyle/>
          <a:p>
            <a:pPr marL="0" indent="0">
              <a:buNone/>
            </a:pPr>
            <a:r>
              <a:rPr lang="en-US" sz="1200" b="1" dirty="0">
                <a:solidFill>
                  <a:srgbClr val="0D47A1"/>
                </a:solidFill>
                <a:latin typeface="Calibri" pitchFamily="34" charset="0"/>
                <a:ea typeface="Calibri" pitchFamily="34" charset="-122"/>
                <a:cs typeface="Calibri" pitchFamily="34" charset="-120"/>
              </a:rPr>
              <a:t>公式解读</a:t>
            </a:r>
            <a:endParaRPr lang="en-US" sz="1200" dirty="0"/>
          </a:p>
        </p:txBody>
      </p:sp>
      <p:sp>
        <p:nvSpPr>
          <p:cNvPr id="9" name="Text 5"/>
          <p:cNvSpPr/>
          <p:nvPr/>
        </p:nvSpPr>
        <p:spPr>
          <a:xfrm>
            <a:off x="4892040" y="1463040"/>
            <a:ext cx="3657600" cy="2834640"/>
          </a:xfrm>
          <a:prstGeom prst="rect">
            <a:avLst/>
          </a:prstGeom>
          <a:noFill/>
          <a:ln/>
        </p:spPr>
        <p:txBody>
          <a:bodyPr wrap="square" rtlCol="0" anchor="t"/>
          <a:lstStyle/>
          <a:p>
            <a:pPr marL="0" indent="0">
              <a:lnSpc>
                <a:spcPct val="140000"/>
              </a:lnSpc>
              <a:buNone/>
            </a:pPr>
            <a:r>
              <a:rPr lang="en-US" sz="1000" dirty="0">
                <a:solidFill>
                  <a:srgbClr val="212121"/>
                </a:solidFill>
                <a:latin typeface="Calibri" pitchFamily="34" charset="0"/>
                <a:ea typeface="Calibri" pitchFamily="34" charset="-122"/>
                <a:cs typeface="Calibri" pitchFamily="34" charset="-120"/>
              </a:rPr>
              <a:t>重启后的急冷阶段，空调以满负荷运行，此时能效比衰减至额定值的60%，产生显著的额外能耗。</a:t>
            </a:r>
            <a:endParaRPr lang="en-US" sz="1000" dirty="0"/>
          </a:p>
          <a:p>
            <a:pPr marL="0" indent="0">
              <a:lnSpc>
                <a:spcPct val="140000"/>
              </a:lnSpc>
              <a:buNone/>
            </a:pPr>
            <a:endParaRPr lang="en-US" sz="1000" dirty="0"/>
          </a:p>
          <a:p>
            <a:pPr marL="0" indent="0">
              <a:lnSpc>
                <a:spcPct val="140000"/>
              </a:lnSpc>
              <a:buNone/>
            </a:pPr>
            <a:r>
              <a:rPr lang="en-US" sz="1000" dirty="0">
                <a:solidFill>
                  <a:srgbClr val="212121"/>
                </a:solidFill>
                <a:latin typeface="Calibri" pitchFamily="34" charset="0"/>
                <a:ea typeface="Calibri" pitchFamily="34" charset="-122"/>
                <a:cs typeface="Calibri" pitchFamily="34" charset="-120"/>
              </a:rPr>
              <a:t>• 急冷耗电量与建筑等效热容和温差成正比</a:t>
            </a:r>
            <a:endParaRPr lang="en-US" sz="1000" dirty="0"/>
          </a:p>
          <a:p>
            <a:pPr marL="0" indent="0">
              <a:lnSpc>
                <a:spcPct val="140000"/>
              </a:lnSpc>
              <a:buNone/>
            </a:pPr>
            <a:r>
              <a:rPr lang="en-US" sz="1000" dirty="0">
                <a:solidFill>
                  <a:srgbClr val="212121"/>
                </a:solidFill>
                <a:latin typeface="Calibri" pitchFamily="34" charset="0"/>
                <a:ea typeface="Calibri" pitchFamily="34" charset="-122"/>
                <a:cs typeface="Calibri" pitchFamily="34" charset="-120"/>
              </a:rPr>
              <a:t>• 能效比衰减系数 η_cool = 0.6 反映了非稳态工况下的效率损失</a:t>
            </a:r>
            <a:endParaRPr lang="en-US" sz="1000" dirty="0"/>
          </a:p>
          <a:p>
            <a:pPr marL="0" indent="0">
              <a:lnSpc>
                <a:spcPct val="140000"/>
              </a:lnSpc>
              <a:buNone/>
            </a:pPr>
            <a:endParaRPr lang="en-US" sz="1000" dirty="0"/>
          </a:p>
          <a:p>
            <a:pPr marL="0" indent="0">
              <a:lnSpc>
                <a:spcPct val="140000"/>
              </a:lnSpc>
              <a:buNone/>
            </a:pPr>
            <a:r>
              <a:rPr lang="en-US" sz="1000" dirty="0">
                <a:solidFill>
                  <a:srgbClr val="212121"/>
                </a:solidFill>
                <a:latin typeface="Calibri" pitchFamily="34" charset="0"/>
                <a:ea typeface="Calibri" pitchFamily="34" charset="-122"/>
                <a:cs typeface="Calibri" pitchFamily="34" charset="-120"/>
              </a:rPr>
              <a:t>间歇关机的总能耗 = 急冷能耗 + 恒温维持能耗（如有）。</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txBody>
          <a:bodyPr/>
          <a:lstStyle/>
          <a:p>
            <a:endParaRPr lang="zh-CN" altLang="en-US"/>
          </a:p>
        </p:txBody>
      </p:sp>
      <p:sp>
        <p:nvSpPr>
          <p:cNvPr id="3" name="Text 1"/>
          <p:cNvSpPr/>
          <p:nvPr/>
        </p:nvSpPr>
        <p:spPr>
          <a:xfrm>
            <a:off x="457200" y="45720"/>
            <a:ext cx="8229600" cy="548640"/>
          </a:xfrm>
          <a:prstGeom prst="rect">
            <a:avLst/>
          </a:prstGeom>
          <a:noFill/>
          <a:ln/>
        </p:spPr>
        <p:txBody>
          <a:bodyPr wrap="square"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数学模型 (4/5)：临界外出时长超越方程</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marL="0" indent="0" algn="r">
              <a:buNone/>
            </a:pPr>
            <a:r>
              <a:rPr lang="en-US" sz="800" dirty="0">
                <a:solidFill>
                  <a:srgbClr val="999999"/>
                </a:solidFill>
                <a:latin typeface="Calibri" pitchFamily="34" charset="0"/>
                <a:ea typeface="Calibri" pitchFamily="34" charset="-122"/>
                <a:cs typeface="Calibri" pitchFamily="34" charset="-120"/>
              </a:rPr>
              <a:t>8 / 25</a:t>
            </a:r>
            <a:endParaRPr lang="en-US" sz="800" dirty="0"/>
          </a:p>
        </p:txBody>
      </p:sp>
      <p:pic>
        <p:nvPicPr>
          <p:cNvPr id="5" name="Image 0" descr="preencoded.png"/>
          <p:cNvPicPr>
            <a:picLocks noChangeAspect="1"/>
          </p:cNvPicPr>
          <p:nvPr/>
        </p:nvPicPr>
        <p:blipFill>
          <a:blip r:embed="rId3"/>
          <a:stretch>
            <a:fillRect/>
          </a:stretch>
        </p:blipFill>
        <p:spPr>
          <a:xfrm>
            <a:off x="1024128" y="1004697"/>
            <a:ext cx="2980944" cy="1865376"/>
          </a:xfrm>
          <a:prstGeom prst="rect">
            <a:avLst/>
          </a:prstGeom>
        </p:spPr>
      </p:pic>
      <p:pic>
        <p:nvPicPr>
          <p:cNvPr id="6" name="Image 1" descr="preencoded.png"/>
          <p:cNvPicPr>
            <a:picLocks noChangeAspect="1"/>
          </p:cNvPicPr>
          <p:nvPr/>
        </p:nvPicPr>
        <p:blipFill>
          <a:blip r:embed="rId4"/>
          <a:stretch>
            <a:fillRect/>
          </a:stretch>
        </p:blipFill>
        <p:spPr>
          <a:xfrm>
            <a:off x="1024128" y="3007233"/>
            <a:ext cx="2980944" cy="1865376"/>
          </a:xfrm>
          <a:prstGeom prst="rect">
            <a:avLst/>
          </a:prstGeom>
        </p:spPr>
      </p:pic>
      <p:sp>
        <p:nvSpPr>
          <p:cNvPr id="7" name="Shape 3"/>
          <p:cNvSpPr/>
          <p:nvPr/>
        </p:nvSpPr>
        <p:spPr>
          <a:xfrm>
            <a:off x="4754880" y="1005840"/>
            <a:ext cx="3931920" cy="3474720"/>
          </a:xfrm>
          <a:prstGeom prst="roundRect">
            <a:avLst>
              <a:gd name="adj" fmla="val 2632"/>
            </a:avLst>
          </a:prstGeom>
          <a:solidFill>
            <a:srgbClr val="F5F7FA"/>
          </a:solidFill>
          <a:ln w="6350">
            <a:solidFill>
              <a:srgbClr val="42A5F5"/>
            </a:solidFill>
            <a:prstDash val="solid"/>
          </a:ln>
        </p:spPr>
        <p:txBody>
          <a:bodyPr/>
          <a:lstStyle/>
          <a:p>
            <a:endParaRPr lang="zh-CN" altLang="en-US"/>
          </a:p>
        </p:txBody>
      </p:sp>
      <p:sp>
        <p:nvSpPr>
          <p:cNvPr id="8" name="Text 4"/>
          <p:cNvSpPr/>
          <p:nvPr/>
        </p:nvSpPr>
        <p:spPr>
          <a:xfrm>
            <a:off x="4892040" y="1097280"/>
            <a:ext cx="3657600" cy="320040"/>
          </a:xfrm>
          <a:prstGeom prst="rect">
            <a:avLst/>
          </a:prstGeom>
          <a:noFill/>
          <a:ln/>
        </p:spPr>
        <p:txBody>
          <a:bodyPr wrap="square" rtlCol="0" anchor="ctr"/>
          <a:lstStyle/>
          <a:p>
            <a:pPr marL="0" indent="0">
              <a:buNone/>
            </a:pPr>
            <a:r>
              <a:rPr lang="en-US" sz="1200" b="1" dirty="0">
                <a:solidFill>
                  <a:srgbClr val="0D47A1"/>
                </a:solidFill>
                <a:latin typeface="Calibri" pitchFamily="34" charset="0"/>
                <a:ea typeface="Calibri" pitchFamily="34" charset="-122"/>
                <a:cs typeface="Calibri" pitchFamily="34" charset="-120"/>
              </a:rPr>
              <a:t>公式解读</a:t>
            </a:r>
            <a:endParaRPr lang="en-US" sz="1200" dirty="0"/>
          </a:p>
        </p:txBody>
      </p:sp>
      <p:sp>
        <p:nvSpPr>
          <p:cNvPr id="9" name="Text 5"/>
          <p:cNvSpPr/>
          <p:nvPr/>
        </p:nvSpPr>
        <p:spPr>
          <a:xfrm>
            <a:off x="4892040" y="1463040"/>
            <a:ext cx="3657600" cy="2834640"/>
          </a:xfrm>
          <a:prstGeom prst="rect">
            <a:avLst/>
          </a:prstGeom>
          <a:noFill/>
          <a:ln/>
        </p:spPr>
        <p:txBody>
          <a:bodyPr wrap="square" rtlCol="0" anchor="t"/>
          <a:lstStyle/>
          <a:p>
            <a:pPr marL="0" indent="0">
              <a:lnSpc>
                <a:spcPct val="140000"/>
              </a:lnSpc>
              <a:buNone/>
            </a:pPr>
            <a:r>
              <a:rPr lang="en-US" sz="1000" dirty="0">
                <a:solidFill>
                  <a:srgbClr val="212121"/>
                </a:solidFill>
                <a:latin typeface="Calibri" pitchFamily="34" charset="0"/>
                <a:ea typeface="Calibri" pitchFamily="34" charset="-122"/>
                <a:cs typeface="Calibri" pitchFamily="34" charset="-120"/>
              </a:rPr>
              <a:t>令两方案耗电量相等，可推导出超越方程。其解即为临界外出时长 T_critical。</a:t>
            </a:r>
            <a:endParaRPr lang="en-US" sz="1000" dirty="0"/>
          </a:p>
          <a:p>
            <a:pPr marL="0" indent="0">
              <a:lnSpc>
                <a:spcPct val="140000"/>
              </a:lnSpc>
              <a:buNone/>
            </a:pPr>
            <a:endParaRPr lang="en-US" sz="1000" dirty="0"/>
          </a:p>
          <a:p>
            <a:pPr marL="0" indent="0">
              <a:lnSpc>
                <a:spcPct val="140000"/>
              </a:lnSpc>
              <a:buNone/>
            </a:pPr>
            <a:r>
              <a:rPr lang="en-US" sz="1000" dirty="0">
                <a:solidFill>
                  <a:srgbClr val="212121"/>
                </a:solidFill>
                <a:latin typeface="Calibri" pitchFamily="34" charset="0"/>
                <a:ea typeface="Calibri" pitchFamily="34" charset="-122"/>
                <a:cs typeface="Calibri" pitchFamily="34" charset="-120"/>
              </a:rPr>
              <a:t>• 当外出时长 &lt; T_critical 时，持续运行更优</a:t>
            </a:r>
            <a:endParaRPr lang="en-US" sz="1000" dirty="0"/>
          </a:p>
          <a:p>
            <a:pPr marL="0" indent="0">
              <a:lnSpc>
                <a:spcPct val="140000"/>
              </a:lnSpc>
              <a:buNone/>
            </a:pPr>
            <a:r>
              <a:rPr lang="en-US" sz="1000" dirty="0">
                <a:solidFill>
                  <a:srgbClr val="212121"/>
                </a:solidFill>
                <a:latin typeface="Calibri" pitchFamily="34" charset="0"/>
                <a:ea typeface="Calibri" pitchFamily="34" charset="-122"/>
                <a:cs typeface="Calibri" pitchFamily="34" charset="-120"/>
              </a:rPr>
              <a:t>• 当外出时长 &gt; T_critical 时，关机重启更省电</a:t>
            </a:r>
            <a:endParaRPr lang="en-US" sz="1000" dirty="0"/>
          </a:p>
          <a:p>
            <a:pPr marL="0" indent="0">
              <a:lnSpc>
                <a:spcPct val="140000"/>
              </a:lnSpc>
              <a:buNone/>
            </a:pPr>
            <a:endParaRPr lang="en-US" sz="1000" dirty="0"/>
          </a:p>
          <a:p>
            <a:pPr marL="0" indent="0">
              <a:lnSpc>
                <a:spcPct val="140000"/>
              </a:lnSpc>
              <a:buNone/>
            </a:pPr>
            <a:r>
              <a:rPr lang="en-US" sz="1000" dirty="0">
                <a:solidFill>
                  <a:srgbClr val="212121"/>
                </a:solidFill>
                <a:latin typeface="Calibri" pitchFamily="34" charset="0"/>
                <a:ea typeface="Calibri" pitchFamily="34" charset="-122"/>
                <a:cs typeface="Calibri" pitchFamily="34" charset="-120"/>
              </a:rPr>
              <a:t>该方程无解析解，需通过数值方法（二分法）精确求解。</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txBody>
          <a:bodyPr/>
          <a:lstStyle/>
          <a:p>
            <a:endParaRPr lang="zh-CN" altLang="en-US"/>
          </a:p>
        </p:txBody>
      </p:sp>
      <p:sp>
        <p:nvSpPr>
          <p:cNvPr id="3" name="Text 1"/>
          <p:cNvSpPr/>
          <p:nvPr/>
        </p:nvSpPr>
        <p:spPr>
          <a:xfrm>
            <a:off x="457200" y="45720"/>
            <a:ext cx="8229600" cy="548640"/>
          </a:xfrm>
          <a:prstGeom prst="rect">
            <a:avLst/>
          </a:prstGeom>
          <a:noFill/>
          <a:ln/>
        </p:spPr>
        <p:txBody>
          <a:bodyPr wrap="square"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数学模型 (5/5)：部分负荷特性</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marL="0" indent="0" algn="r">
              <a:buNone/>
            </a:pPr>
            <a:r>
              <a:rPr lang="en-US" sz="800" dirty="0">
                <a:solidFill>
                  <a:srgbClr val="999999"/>
                </a:solidFill>
                <a:latin typeface="Calibri" pitchFamily="34" charset="0"/>
                <a:ea typeface="Calibri" pitchFamily="34" charset="-122"/>
                <a:cs typeface="Calibri" pitchFamily="34" charset="-120"/>
              </a:rPr>
              <a:t>9 / 25</a:t>
            </a:r>
            <a:endParaRPr lang="en-US" sz="800" dirty="0"/>
          </a:p>
        </p:txBody>
      </p:sp>
      <p:pic>
        <p:nvPicPr>
          <p:cNvPr id="5" name="Image 0" descr="preencoded.png"/>
          <p:cNvPicPr>
            <a:picLocks noChangeAspect="1"/>
          </p:cNvPicPr>
          <p:nvPr/>
        </p:nvPicPr>
        <p:blipFill>
          <a:blip r:embed="rId3"/>
          <a:stretch>
            <a:fillRect/>
          </a:stretch>
        </p:blipFill>
        <p:spPr>
          <a:xfrm>
            <a:off x="1024128" y="1004697"/>
            <a:ext cx="2980944" cy="1865376"/>
          </a:xfrm>
          <a:prstGeom prst="rect">
            <a:avLst/>
          </a:prstGeom>
        </p:spPr>
      </p:pic>
      <p:pic>
        <p:nvPicPr>
          <p:cNvPr id="6" name="Image 1" descr="preencoded.png"/>
          <p:cNvPicPr>
            <a:picLocks noChangeAspect="1"/>
          </p:cNvPicPr>
          <p:nvPr/>
        </p:nvPicPr>
        <p:blipFill>
          <a:blip r:embed="rId4"/>
          <a:stretch>
            <a:fillRect/>
          </a:stretch>
        </p:blipFill>
        <p:spPr>
          <a:xfrm>
            <a:off x="1024128" y="3007233"/>
            <a:ext cx="2980944" cy="1865376"/>
          </a:xfrm>
          <a:prstGeom prst="rect">
            <a:avLst/>
          </a:prstGeom>
        </p:spPr>
      </p:pic>
      <p:sp>
        <p:nvSpPr>
          <p:cNvPr id="7" name="Shape 3"/>
          <p:cNvSpPr/>
          <p:nvPr/>
        </p:nvSpPr>
        <p:spPr>
          <a:xfrm>
            <a:off x="4754880" y="1005840"/>
            <a:ext cx="3931920" cy="3474720"/>
          </a:xfrm>
          <a:prstGeom prst="roundRect">
            <a:avLst>
              <a:gd name="adj" fmla="val 2632"/>
            </a:avLst>
          </a:prstGeom>
          <a:solidFill>
            <a:srgbClr val="F5F7FA"/>
          </a:solidFill>
          <a:ln w="6350">
            <a:solidFill>
              <a:srgbClr val="42A5F5"/>
            </a:solidFill>
            <a:prstDash val="solid"/>
          </a:ln>
        </p:spPr>
        <p:txBody>
          <a:bodyPr/>
          <a:lstStyle/>
          <a:p>
            <a:endParaRPr lang="zh-CN" altLang="en-US"/>
          </a:p>
        </p:txBody>
      </p:sp>
      <p:sp>
        <p:nvSpPr>
          <p:cNvPr id="8" name="Text 4"/>
          <p:cNvSpPr/>
          <p:nvPr/>
        </p:nvSpPr>
        <p:spPr>
          <a:xfrm>
            <a:off x="4892040" y="1097280"/>
            <a:ext cx="3657600" cy="320040"/>
          </a:xfrm>
          <a:prstGeom prst="rect">
            <a:avLst/>
          </a:prstGeom>
          <a:noFill/>
          <a:ln/>
        </p:spPr>
        <p:txBody>
          <a:bodyPr wrap="square" rtlCol="0" anchor="ctr"/>
          <a:lstStyle/>
          <a:p>
            <a:pPr marL="0" indent="0">
              <a:buNone/>
            </a:pPr>
            <a:r>
              <a:rPr lang="en-US" sz="1200" b="1" dirty="0">
                <a:solidFill>
                  <a:srgbClr val="0D47A1"/>
                </a:solidFill>
                <a:latin typeface="Calibri" pitchFamily="34" charset="0"/>
                <a:ea typeface="Calibri" pitchFamily="34" charset="-122"/>
                <a:cs typeface="Calibri" pitchFamily="34" charset="-120"/>
              </a:rPr>
              <a:t>公式解读</a:t>
            </a:r>
            <a:endParaRPr lang="en-US" sz="1200" dirty="0"/>
          </a:p>
        </p:txBody>
      </p:sp>
      <p:sp>
        <p:nvSpPr>
          <p:cNvPr id="9" name="Text 5"/>
          <p:cNvSpPr/>
          <p:nvPr/>
        </p:nvSpPr>
        <p:spPr>
          <a:xfrm>
            <a:off x="4892040" y="1463040"/>
            <a:ext cx="3657600" cy="2834640"/>
          </a:xfrm>
          <a:prstGeom prst="rect">
            <a:avLst/>
          </a:prstGeom>
          <a:noFill/>
          <a:ln/>
        </p:spPr>
        <p:txBody>
          <a:bodyPr wrap="square" rtlCol="0" anchor="t"/>
          <a:lstStyle/>
          <a:p>
            <a:pPr marL="0" indent="0">
              <a:lnSpc>
                <a:spcPct val="140000"/>
              </a:lnSpc>
              <a:buNone/>
            </a:pPr>
            <a:r>
              <a:rPr lang="en-US" sz="1000" dirty="0">
                <a:solidFill>
                  <a:srgbClr val="212121"/>
                </a:solidFill>
                <a:latin typeface="Calibri" pitchFamily="34" charset="0"/>
                <a:ea typeface="Calibri" pitchFamily="34" charset="-122"/>
                <a:cs typeface="Calibri" pitchFamily="34" charset="-120"/>
              </a:rPr>
              <a:t>空调在非额定工况下能效比发生衰减，部分负荷系数（PLF）描述了这一特性。</a:t>
            </a:r>
            <a:endParaRPr lang="en-US" sz="1000" dirty="0"/>
          </a:p>
          <a:p>
            <a:pPr marL="0" indent="0">
              <a:lnSpc>
                <a:spcPct val="140000"/>
              </a:lnSpc>
              <a:buNone/>
            </a:pPr>
            <a:endParaRPr lang="en-US" sz="1000" dirty="0"/>
          </a:p>
          <a:p>
            <a:pPr marL="0" indent="0">
              <a:lnSpc>
                <a:spcPct val="140000"/>
              </a:lnSpc>
              <a:buNone/>
            </a:pPr>
            <a:r>
              <a:rPr lang="en-US" sz="1000" dirty="0">
                <a:solidFill>
                  <a:srgbClr val="212121"/>
                </a:solidFill>
                <a:latin typeface="Calibri" pitchFamily="34" charset="0"/>
                <a:ea typeface="Calibri" pitchFamily="34" charset="-122"/>
                <a:cs typeface="Calibri" pitchFamily="34" charset="-120"/>
              </a:rPr>
              <a:t>• PLF 随负荷率变化，通常在0.6~1.0之间</a:t>
            </a:r>
            <a:endParaRPr lang="en-US" sz="1000" dirty="0"/>
          </a:p>
          <a:p>
            <a:pPr marL="0" indent="0">
              <a:lnSpc>
                <a:spcPct val="140000"/>
              </a:lnSpc>
              <a:buNone/>
            </a:pPr>
            <a:r>
              <a:rPr lang="en-US" sz="1000" dirty="0">
                <a:solidFill>
                  <a:srgbClr val="212121"/>
                </a:solidFill>
                <a:latin typeface="Calibri" pitchFamily="34" charset="0"/>
                <a:ea typeface="Calibri" pitchFamily="34" charset="-122"/>
                <a:cs typeface="Calibri" pitchFamily="34" charset="-120"/>
              </a:rPr>
              <a:t>• 综合部分负荷能效值（IPLV）是评价空调节能性能的关键指标</a:t>
            </a:r>
            <a:endParaRPr lang="en-US" sz="1000" dirty="0"/>
          </a:p>
          <a:p>
            <a:pPr marL="0" indent="0">
              <a:lnSpc>
                <a:spcPct val="140000"/>
              </a:lnSpc>
              <a:buNone/>
            </a:pPr>
            <a:endParaRPr lang="en-US" sz="1000" dirty="0"/>
          </a:p>
          <a:p>
            <a:pPr marL="0" indent="0">
              <a:lnSpc>
                <a:spcPct val="140000"/>
              </a:lnSpc>
              <a:buNone/>
            </a:pPr>
            <a:r>
              <a:rPr lang="en-US" sz="1000" dirty="0">
                <a:solidFill>
                  <a:srgbClr val="212121"/>
                </a:solidFill>
                <a:latin typeface="Calibri" pitchFamily="34" charset="0"/>
                <a:ea typeface="Calibri" pitchFamily="34" charset="-122"/>
                <a:cs typeface="Calibri" pitchFamily="34" charset="-120"/>
              </a:rPr>
              <a:t>本模型通过 PLF 修正不同工况下的实际能效比，提高仿真精度。</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txBody>
          <a:bodyPr/>
          <a:lstStyle/>
          <a:p>
            <a:endParaRPr lang="zh-CN" altLang="en-US"/>
          </a:p>
        </p:txBody>
      </p:sp>
      <p:sp>
        <p:nvSpPr>
          <p:cNvPr id="3" name="Text 1"/>
          <p:cNvSpPr/>
          <p:nvPr/>
        </p:nvSpPr>
        <p:spPr>
          <a:xfrm>
            <a:off x="457200" y="45720"/>
            <a:ext cx="8229600" cy="548640"/>
          </a:xfrm>
          <a:prstGeom prst="rect">
            <a:avLst/>
          </a:prstGeom>
          <a:noFill/>
          <a:ln/>
        </p:spPr>
        <p:txBody>
          <a:bodyPr wrap="square"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实验设计方法论</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marL="0" indent="0" algn="r">
              <a:buNone/>
            </a:pPr>
            <a:r>
              <a:rPr lang="en-US" sz="800" dirty="0">
                <a:solidFill>
                  <a:srgbClr val="999999"/>
                </a:solidFill>
                <a:latin typeface="Calibri" pitchFamily="34" charset="0"/>
                <a:ea typeface="Calibri" pitchFamily="34" charset="-122"/>
                <a:cs typeface="Calibri" pitchFamily="34" charset="-120"/>
              </a:rPr>
              <a:t>10 / 25</a:t>
            </a:r>
            <a:endParaRPr lang="en-US" sz="800" dirty="0"/>
          </a:p>
        </p:txBody>
      </p:sp>
      <p:sp>
        <p:nvSpPr>
          <p:cNvPr id="5" name="Shape 3"/>
          <p:cNvSpPr/>
          <p:nvPr/>
        </p:nvSpPr>
        <p:spPr>
          <a:xfrm>
            <a:off x="548640" y="1188720"/>
            <a:ext cx="2468880" cy="3200400"/>
          </a:xfrm>
          <a:prstGeom prst="roundRect">
            <a:avLst>
              <a:gd name="adj" fmla="val 3704"/>
            </a:avLst>
          </a:prstGeom>
          <a:solidFill>
            <a:srgbClr val="F5F7FA"/>
          </a:solidFill>
          <a:ln w="6350">
            <a:solidFill>
              <a:srgbClr val="42A5F5"/>
            </a:solidFill>
            <a:prstDash val="solid"/>
          </a:ln>
        </p:spPr>
        <p:txBody>
          <a:bodyPr/>
          <a:lstStyle/>
          <a:p>
            <a:endParaRPr lang="zh-CN" altLang="en-US"/>
          </a:p>
        </p:txBody>
      </p:sp>
      <p:sp>
        <p:nvSpPr>
          <p:cNvPr id="6" name="Text 4"/>
          <p:cNvSpPr/>
          <p:nvPr/>
        </p:nvSpPr>
        <p:spPr>
          <a:xfrm>
            <a:off x="685800" y="1261872"/>
            <a:ext cx="2194560" cy="320040"/>
          </a:xfrm>
          <a:prstGeom prst="rect">
            <a:avLst/>
          </a:prstGeom>
          <a:noFill/>
          <a:ln/>
        </p:spPr>
        <p:txBody>
          <a:bodyPr wrap="square" rtlCol="0" anchor="ctr"/>
          <a:lstStyle/>
          <a:p>
            <a:pPr marL="0" indent="0">
              <a:buNone/>
            </a:pPr>
            <a:r>
              <a:rPr lang="en-US" sz="1100" b="1" dirty="0">
                <a:solidFill>
                  <a:srgbClr val="0D47A1"/>
                </a:solidFill>
                <a:latin typeface="Calibri" pitchFamily="34" charset="0"/>
                <a:ea typeface="Calibri" pitchFamily="34" charset="-122"/>
                <a:cs typeface="Calibri" pitchFamily="34" charset="-120"/>
              </a:rPr>
              <a:t>第一阶段：田口正交实验</a:t>
            </a:r>
            <a:endParaRPr lang="en-US" sz="1100" dirty="0"/>
          </a:p>
        </p:txBody>
      </p:sp>
      <p:sp>
        <p:nvSpPr>
          <p:cNvPr id="7" name="Text 5"/>
          <p:cNvSpPr/>
          <p:nvPr/>
        </p:nvSpPr>
        <p:spPr>
          <a:xfrm>
            <a:off x="685800" y="1554480"/>
            <a:ext cx="2194560" cy="2743200"/>
          </a:xfrm>
          <a:prstGeom prst="rect">
            <a:avLst/>
          </a:prstGeom>
          <a:noFill/>
          <a:ln/>
        </p:spPr>
        <p:txBody>
          <a:bodyPr wrap="square" rtlCol="0" anchor="t"/>
          <a:lstStyle/>
          <a:p>
            <a:pPr marL="0" indent="0">
              <a:buNone/>
            </a:pPr>
            <a:r>
              <a:rPr lang="en-US" sz="900" dirty="0">
                <a:solidFill>
                  <a:srgbClr val="212121"/>
                </a:solidFill>
                <a:latin typeface="Calibri" pitchFamily="34" charset="0"/>
                <a:ea typeface="Calibri" pitchFamily="34" charset="-122"/>
                <a:cs typeface="Calibri" pitchFamily="34" charset="-120"/>
              </a:rPr>
              <a:t>• 采用 L50(5^6) 正交表</a:t>
            </a:r>
            <a:endParaRPr lang="en-US" sz="900" dirty="0"/>
          </a:p>
          <a:p>
            <a:pPr marL="0" indent="0">
              <a:buNone/>
            </a:pPr>
            <a:r>
              <a:rPr lang="en-US" sz="900" dirty="0">
                <a:solidFill>
                  <a:srgbClr val="212121"/>
                </a:solidFill>
                <a:latin typeface="Calibri" pitchFamily="34" charset="0"/>
                <a:ea typeface="Calibri" pitchFamily="34" charset="-122"/>
                <a:cs typeface="Calibri" pitchFamily="34" charset="-120"/>
              </a:rPr>
              <a:t>• 6个因子，每个因子5个水平</a:t>
            </a:r>
            <a:endParaRPr lang="en-US" sz="900" dirty="0"/>
          </a:p>
          <a:p>
            <a:pPr marL="0" indent="0">
              <a:buNone/>
            </a:pPr>
            <a:r>
              <a:rPr lang="en-US" sz="900" dirty="0">
                <a:solidFill>
                  <a:srgbClr val="212121"/>
                </a:solidFill>
                <a:latin typeface="Calibri" pitchFamily="34" charset="0"/>
                <a:ea typeface="Calibri" pitchFamily="34" charset="-122"/>
                <a:cs typeface="Calibri" pitchFamily="34" charset="-120"/>
              </a:rPr>
              <a:t>• 仅需50组实验代替15625组全因子实验</a:t>
            </a:r>
            <a:endParaRPr lang="en-US" sz="900" dirty="0"/>
          </a:p>
          <a:p>
            <a:pPr marL="0" indent="0">
              <a:buNone/>
            </a:pPr>
            <a:r>
              <a:rPr lang="en-US" sz="900" dirty="0">
                <a:solidFill>
                  <a:srgbClr val="212121"/>
                </a:solidFill>
                <a:latin typeface="Calibri" pitchFamily="34" charset="0"/>
                <a:ea typeface="Calibri" pitchFamily="34" charset="-122"/>
                <a:cs typeface="Calibri" pitchFamily="34" charset="-120"/>
              </a:rPr>
              <a:t>• 通过方差分析（ANOVA）筛选关键因子</a:t>
            </a:r>
            <a:endParaRPr lang="en-US" sz="900" dirty="0"/>
          </a:p>
          <a:p>
            <a:pPr marL="0" indent="0">
              <a:buNone/>
            </a:pPr>
            <a:r>
              <a:rPr lang="en-US" sz="900" dirty="0">
                <a:solidFill>
                  <a:srgbClr val="212121"/>
                </a:solidFill>
                <a:latin typeface="Calibri" pitchFamily="34" charset="0"/>
                <a:ea typeface="Calibri" pitchFamily="34" charset="-122"/>
                <a:cs typeface="Calibri" pitchFamily="34" charset="-120"/>
              </a:rPr>
              <a:t>• 确定各因子的显著性排序</a:t>
            </a:r>
            <a:endParaRPr lang="en-US" sz="900" dirty="0"/>
          </a:p>
        </p:txBody>
      </p:sp>
      <p:sp>
        <p:nvSpPr>
          <p:cNvPr id="8" name="Shape 6"/>
          <p:cNvSpPr/>
          <p:nvPr/>
        </p:nvSpPr>
        <p:spPr>
          <a:xfrm>
            <a:off x="3337560" y="1188720"/>
            <a:ext cx="2468880" cy="3200400"/>
          </a:xfrm>
          <a:prstGeom prst="roundRect">
            <a:avLst>
              <a:gd name="adj" fmla="val 3704"/>
            </a:avLst>
          </a:prstGeom>
          <a:solidFill>
            <a:srgbClr val="F5F7FA"/>
          </a:solidFill>
          <a:ln w="6350">
            <a:solidFill>
              <a:srgbClr val="42A5F5"/>
            </a:solidFill>
            <a:prstDash val="solid"/>
          </a:ln>
        </p:spPr>
        <p:txBody>
          <a:bodyPr/>
          <a:lstStyle/>
          <a:p>
            <a:endParaRPr lang="zh-CN" altLang="en-US"/>
          </a:p>
        </p:txBody>
      </p:sp>
      <p:sp>
        <p:nvSpPr>
          <p:cNvPr id="9" name="Text 7"/>
          <p:cNvSpPr/>
          <p:nvPr/>
        </p:nvSpPr>
        <p:spPr>
          <a:xfrm>
            <a:off x="3474720" y="1261872"/>
            <a:ext cx="2194560" cy="320040"/>
          </a:xfrm>
          <a:prstGeom prst="rect">
            <a:avLst/>
          </a:prstGeom>
          <a:noFill/>
          <a:ln/>
        </p:spPr>
        <p:txBody>
          <a:bodyPr wrap="square" rtlCol="0" anchor="ctr"/>
          <a:lstStyle/>
          <a:p>
            <a:pPr marL="0" indent="0">
              <a:buNone/>
            </a:pPr>
            <a:r>
              <a:rPr lang="en-US" sz="1100" b="1" dirty="0">
                <a:solidFill>
                  <a:srgbClr val="0D47A1"/>
                </a:solidFill>
                <a:latin typeface="Calibri" pitchFamily="34" charset="0"/>
                <a:ea typeface="Calibri" pitchFamily="34" charset="-122"/>
                <a:cs typeface="Calibri" pitchFamily="34" charset="-120"/>
              </a:rPr>
              <a:t>第二阶段：二分法精确搜索</a:t>
            </a:r>
            <a:endParaRPr lang="en-US" sz="1100" dirty="0"/>
          </a:p>
        </p:txBody>
      </p:sp>
      <p:sp>
        <p:nvSpPr>
          <p:cNvPr id="10" name="Text 8"/>
          <p:cNvSpPr/>
          <p:nvPr/>
        </p:nvSpPr>
        <p:spPr>
          <a:xfrm>
            <a:off x="3474720" y="1554480"/>
            <a:ext cx="2194560" cy="2743200"/>
          </a:xfrm>
          <a:prstGeom prst="rect">
            <a:avLst/>
          </a:prstGeom>
          <a:noFill/>
          <a:ln/>
        </p:spPr>
        <p:txBody>
          <a:bodyPr wrap="square" rtlCol="0" anchor="t"/>
          <a:lstStyle/>
          <a:p>
            <a:pPr marL="0" indent="0">
              <a:buNone/>
            </a:pPr>
            <a:r>
              <a:rPr lang="en-US" sz="900" dirty="0">
                <a:solidFill>
                  <a:srgbClr val="212121"/>
                </a:solidFill>
                <a:latin typeface="Calibri" pitchFamily="34" charset="0"/>
                <a:ea typeface="Calibri" pitchFamily="34" charset="-122"/>
                <a:cs typeface="Calibri" pitchFamily="34" charset="-120"/>
              </a:rPr>
              <a:t>• 在关键因子空间内进行精细搜索</a:t>
            </a:r>
            <a:endParaRPr lang="en-US" sz="900" dirty="0"/>
          </a:p>
          <a:p>
            <a:pPr marL="0" indent="0">
              <a:buNone/>
            </a:pPr>
            <a:r>
              <a:rPr lang="en-US" sz="900" dirty="0">
                <a:solidFill>
                  <a:srgbClr val="212121"/>
                </a:solidFill>
                <a:latin typeface="Calibri" pitchFamily="34" charset="0"/>
                <a:ea typeface="Calibri" pitchFamily="34" charset="-122"/>
                <a:cs typeface="Calibri" pitchFamily="34" charset="-120"/>
              </a:rPr>
              <a:t>• 对每组工况求解临界外出时长</a:t>
            </a:r>
            <a:endParaRPr lang="en-US" sz="900" dirty="0"/>
          </a:p>
          <a:p>
            <a:pPr marL="0" indent="0">
              <a:buNone/>
            </a:pPr>
            <a:r>
              <a:rPr lang="en-US" sz="900" dirty="0">
                <a:solidFill>
                  <a:srgbClr val="212121"/>
                </a:solidFill>
                <a:latin typeface="Calibri" pitchFamily="34" charset="0"/>
                <a:ea typeface="Calibri" pitchFamily="34" charset="-122"/>
                <a:cs typeface="Calibri" pitchFamily="34" charset="-120"/>
              </a:rPr>
              <a:t>• 二分法精度：0.01小时</a:t>
            </a:r>
            <a:endParaRPr lang="en-US" sz="900" dirty="0"/>
          </a:p>
          <a:p>
            <a:pPr marL="0" indent="0">
              <a:buNone/>
            </a:pPr>
            <a:r>
              <a:rPr lang="en-US" sz="900" dirty="0">
                <a:solidFill>
                  <a:srgbClr val="212121"/>
                </a:solidFill>
                <a:latin typeface="Calibri" pitchFamily="34" charset="0"/>
                <a:ea typeface="Calibri" pitchFamily="34" charset="-122"/>
                <a:cs typeface="Calibri" pitchFamily="34" charset="-120"/>
              </a:rPr>
              <a:t>• 共完成600组精确搜索</a:t>
            </a:r>
            <a:endParaRPr lang="en-US" sz="900" dirty="0"/>
          </a:p>
          <a:p>
            <a:pPr marL="0" indent="0">
              <a:buNone/>
            </a:pPr>
            <a:r>
              <a:rPr lang="en-US" sz="900" dirty="0">
                <a:solidFill>
                  <a:srgbClr val="212121"/>
                </a:solidFill>
                <a:latin typeface="Calibri" pitchFamily="34" charset="0"/>
                <a:ea typeface="Calibri" pitchFamily="34" charset="-122"/>
                <a:cs typeface="Calibri" pitchFamily="34" charset="-120"/>
              </a:rPr>
              <a:t>• 构建临界外出时长的完整分布</a:t>
            </a:r>
            <a:endParaRPr lang="en-US" sz="900" dirty="0"/>
          </a:p>
        </p:txBody>
      </p:sp>
      <p:sp>
        <p:nvSpPr>
          <p:cNvPr id="11" name="Shape 9"/>
          <p:cNvSpPr/>
          <p:nvPr/>
        </p:nvSpPr>
        <p:spPr>
          <a:xfrm>
            <a:off x="6126480" y="1188720"/>
            <a:ext cx="2468880" cy="3200400"/>
          </a:xfrm>
          <a:prstGeom prst="roundRect">
            <a:avLst>
              <a:gd name="adj" fmla="val 3704"/>
            </a:avLst>
          </a:prstGeom>
          <a:solidFill>
            <a:srgbClr val="F5F7FA"/>
          </a:solidFill>
          <a:ln w="6350">
            <a:solidFill>
              <a:srgbClr val="42A5F5"/>
            </a:solidFill>
            <a:prstDash val="solid"/>
          </a:ln>
        </p:spPr>
        <p:txBody>
          <a:bodyPr/>
          <a:lstStyle/>
          <a:p>
            <a:endParaRPr lang="zh-CN" altLang="en-US"/>
          </a:p>
        </p:txBody>
      </p:sp>
      <p:sp>
        <p:nvSpPr>
          <p:cNvPr id="12" name="Text 10"/>
          <p:cNvSpPr/>
          <p:nvPr/>
        </p:nvSpPr>
        <p:spPr>
          <a:xfrm>
            <a:off x="6263640" y="1261872"/>
            <a:ext cx="2194560" cy="320040"/>
          </a:xfrm>
          <a:prstGeom prst="rect">
            <a:avLst/>
          </a:prstGeom>
          <a:noFill/>
          <a:ln/>
        </p:spPr>
        <p:txBody>
          <a:bodyPr wrap="square" rtlCol="0" anchor="ctr"/>
          <a:lstStyle/>
          <a:p>
            <a:pPr marL="0" indent="0">
              <a:buNone/>
            </a:pPr>
            <a:r>
              <a:rPr lang="en-US" sz="1100" b="1" dirty="0">
                <a:solidFill>
                  <a:srgbClr val="0D47A1"/>
                </a:solidFill>
                <a:latin typeface="Calibri" pitchFamily="34" charset="0"/>
                <a:ea typeface="Calibri" pitchFamily="34" charset="-122"/>
                <a:cs typeface="Calibri" pitchFamily="34" charset="-120"/>
              </a:rPr>
              <a:t>第三阶段：综合验证分析</a:t>
            </a:r>
            <a:endParaRPr lang="en-US" sz="1100" dirty="0"/>
          </a:p>
        </p:txBody>
      </p:sp>
      <p:sp>
        <p:nvSpPr>
          <p:cNvPr id="13" name="Text 11"/>
          <p:cNvSpPr/>
          <p:nvPr/>
        </p:nvSpPr>
        <p:spPr>
          <a:xfrm>
            <a:off x="6263640" y="1554480"/>
            <a:ext cx="2194560" cy="2743200"/>
          </a:xfrm>
          <a:prstGeom prst="rect">
            <a:avLst/>
          </a:prstGeom>
          <a:noFill/>
          <a:ln/>
        </p:spPr>
        <p:txBody>
          <a:bodyPr wrap="square" rtlCol="0" anchor="t"/>
          <a:lstStyle/>
          <a:p>
            <a:pPr marL="0" indent="0">
              <a:buNone/>
            </a:pPr>
            <a:r>
              <a:rPr lang="en-US" sz="900" dirty="0">
                <a:solidFill>
                  <a:srgbClr val="212121"/>
                </a:solidFill>
                <a:latin typeface="Calibri" pitchFamily="34" charset="0"/>
                <a:ea typeface="Calibri" pitchFamily="34" charset="-122"/>
                <a:cs typeface="Calibri" pitchFamily="34" charset="-120"/>
              </a:rPr>
              <a:t>• 全因子交叉验证</a:t>
            </a:r>
            <a:endParaRPr lang="en-US" sz="900" dirty="0"/>
          </a:p>
          <a:p>
            <a:pPr marL="0" indent="0">
              <a:buNone/>
            </a:pPr>
            <a:r>
              <a:rPr lang="en-US" sz="900" dirty="0">
                <a:solidFill>
                  <a:srgbClr val="212121"/>
                </a:solidFill>
                <a:latin typeface="Calibri" pitchFamily="34" charset="0"/>
                <a:ea typeface="Calibri" pitchFamily="34" charset="-122"/>
                <a:cs typeface="Calibri" pitchFamily="34" charset="-120"/>
              </a:rPr>
              <a:t>• 敏感性分析（Pearson相关系数）</a:t>
            </a:r>
            <a:endParaRPr lang="en-US" sz="900" dirty="0"/>
          </a:p>
          <a:p>
            <a:pPr marL="0" indent="0">
              <a:buNone/>
            </a:pPr>
            <a:r>
              <a:rPr lang="en-US" sz="900" dirty="0">
                <a:solidFill>
                  <a:srgbClr val="212121"/>
                </a:solidFill>
                <a:latin typeface="Calibri" pitchFamily="34" charset="0"/>
                <a:ea typeface="Calibri" pitchFamily="34" charset="-122"/>
                <a:cs typeface="Calibri" pitchFamily="34" charset="-120"/>
              </a:rPr>
              <a:t>• 综合影响力加权评估</a:t>
            </a:r>
            <a:endParaRPr lang="en-US" sz="900" dirty="0"/>
          </a:p>
          <a:p>
            <a:pPr marL="0" indent="0">
              <a:buNone/>
            </a:pPr>
            <a:r>
              <a:rPr lang="en-US" sz="900" dirty="0">
                <a:solidFill>
                  <a:srgbClr val="212121"/>
                </a:solidFill>
                <a:latin typeface="Calibri" pitchFamily="34" charset="0"/>
                <a:ea typeface="Calibri" pitchFamily="34" charset="-122"/>
                <a:cs typeface="Calibri" pitchFamily="34" charset="-120"/>
              </a:rPr>
              <a:t>• 多维度可视化呈现</a:t>
            </a:r>
            <a:endParaRPr lang="en-US" sz="900" dirty="0"/>
          </a:p>
          <a:p>
            <a:pPr marL="0" indent="0">
              <a:buNone/>
            </a:pPr>
            <a:r>
              <a:rPr lang="en-US" sz="900" dirty="0">
                <a:solidFill>
                  <a:srgbClr val="212121"/>
                </a:solidFill>
                <a:latin typeface="Calibri" pitchFamily="34" charset="0"/>
                <a:ea typeface="Calibri" pitchFamily="34" charset="-122"/>
                <a:cs typeface="Calibri" pitchFamily="34" charset="-120"/>
              </a:rPr>
              <a:t>• 形成可操作的使用建议</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txBody>
          <a:bodyPr/>
          <a:lstStyle/>
          <a:p>
            <a:endParaRPr lang="zh-CN" altLang="en-US"/>
          </a:p>
        </p:txBody>
      </p:sp>
      <p:sp>
        <p:nvSpPr>
          <p:cNvPr id="3" name="Text 1"/>
          <p:cNvSpPr/>
          <p:nvPr/>
        </p:nvSpPr>
        <p:spPr>
          <a:xfrm>
            <a:off x="457200" y="45720"/>
            <a:ext cx="8229600" cy="548640"/>
          </a:xfrm>
          <a:prstGeom prst="rect">
            <a:avLst/>
          </a:prstGeom>
          <a:noFill/>
          <a:ln/>
        </p:spPr>
        <p:txBody>
          <a:bodyPr wrap="square"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迭代收敛策略</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marL="0" indent="0" algn="r">
              <a:buNone/>
            </a:pPr>
            <a:r>
              <a:rPr lang="en-US" sz="800" dirty="0">
                <a:solidFill>
                  <a:srgbClr val="999999"/>
                </a:solidFill>
                <a:latin typeface="Calibri" pitchFamily="34" charset="0"/>
                <a:ea typeface="Calibri" pitchFamily="34" charset="-122"/>
                <a:cs typeface="Calibri" pitchFamily="34" charset="-120"/>
              </a:rPr>
              <a:t>11 / 25</a:t>
            </a:r>
            <a:endParaRPr lang="en-US" sz="800" dirty="0"/>
          </a:p>
        </p:txBody>
      </p:sp>
      <p:sp>
        <p:nvSpPr>
          <p:cNvPr id="5" name="Shape 3"/>
          <p:cNvSpPr/>
          <p:nvPr/>
        </p:nvSpPr>
        <p:spPr>
          <a:xfrm>
            <a:off x="457200" y="914400"/>
            <a:ext cx="3840480" cy="3840480"/>
          </a:xfrm>
          <a:prstGeom prst="roundRect">
            <a:avLst>
              <a:gd name="adj" fmla="val 2381"/>
            </a:avLst>
          </a:prstGeom>
          <a:solidFill>
            <a:srgbClr val="F5F7FA"/>
          </a:solidFill>
          <a:ln w="6350">
            <a:solidFill>
              <a:srgbClr val="42A5F5"/>
            </a:solidFill>
            <a:prstDash val="solid"/>
          </a:ln>
        </p:spPr>
        <p:txBody>
          <a:bodyPr/>
          <a:lstStyle/>
          <a:p>
            <a:endParaRPr lang="zh-CN" altLang="en-US"/>
          </a:p>
        </p:txBody>
      </p:sp>
      <p:sp>
        <p:nvSpPr>
          <p:cNvPr id="6" name="Text 4"/>
          <p:cNvSpPr/>
          <p:nvPr/>
        </p:nvSpPr>
        <p:spPr>
          <a:xfrm>
            <a:off x="594360" y="1005840"/>
            <a:ext cx="3566160" cy="320040"/>
          </a:xfrm>
          <a:prstGeom prst="rect">
            <a:avLst/>
          </a:prstGeom>
          <a:noFill/>
          <a:ln/>
        </p:spPr>
        <p:txBody>
          <a:bodyPr wrap="square" rtlCol="0" anchor="ctr"/>
          <a:lstStyle/>
          <a:p>
            <a:pPr marL="0" indent="0">
              <a:buNone/>
            </a:pPr>
            <a:r>
              <a:rPr lang="en-US" sz="1200" b="1" dirty="0">
                <a:solidFill>
                  <a:srgbClr val="0D47A1"/>
                </a:solidFill>
                <a:latin typeface="Calibri" pitchFamily="34" charset="0"/>
                <a:ea typeface="Calibri" pitchFamily="34" charset="-122"/>
                <a:cs typeface="Calibri" pitchFamily="34" charset="-120"/>
              </a:rPr>
              <a:t>二分法收敛流程</a:t>
            </a:r>
            <a:endParaRPr lang="en-US" sz="1200" dirty="0"/>
          </a:p>
        </p:txBody>
      </p:sp>
      <p:sp>
        <p:nvSpPr>
          <p:cNvPr id="7" name="Text 5"/>
          <p:cNvSpPr/>
          <p:nvPr/>
        </p:nvSpPr>
        <p:spPr>
          <a:xfrm>
            <a:off x="594360" y="1371600"/>
            <a:ext cx="3566160" cy="3200400"/>
          </a:xfrm>
          <a:prstGeom prst="rect">
            <a:avLst/>
          </a:prstGeom>
          <a:noFill/>
          <a:ln/>
        </p:spPr>
        <p:txBody>
          <a:bodyPr wrap="square" rtlCol="0" anchor="t"/>
          <a:lstStyle/>
          <a:p>
            <a:pPr marL="0" indent="0">
              <a:lnSpc>
                <a:spcPct val="130000"/>
              </a:lnSpc>
              <a:buNone/>
            </a:pPr>
            <a:r>
              <a:rPr lang="en-US" sz="950" dirty="0">
                <a:solidFill>
                  <a:srgbClr val="212121"/>
                </a:solidFill>
                <a:latin typeface="Calibri" pitchFamily="34" charset="0"/>
                <a:ea typeface="Calibri" pitchFamily="34" charset="-122"/>
                <a:cs typeface="Calibri" pitchFamily="34" charset="-120"/>
              </a:rPr>
              <a:t>1. 初始化搜索区间 [0, 24] 小时</a:t>
            </a:r>
            <a:endParaRPr lang="en-US" sz="950" dirty="0"/>
          </a:p>
          <a:p>
            <a:pPr marL="0" indent="0">
              <a:lnSpc>
                <a:spcPct val="130000"/>
              </a:lnSpc>
              <a:buNone/>
            </a:pPr>
            <a:endParaRPr lang="en-US" sz="950" dirty="0"/>
          </a:p>
          <a:p>
            <a:pPr marL="0" indent="0">
              <a:lnSpc>
                <a:spcPct val="130000"/>
              </a:lnSpc>
              <a:buNone/>
            </a:pPr>
            <a:r>
              <a:rPr lang="en-US" sz="950" dirty="0">
                <a:solidFill>
                  <a:srgbClr val="212121"/>
                </a:solidFill>
                <a:latin typeface="Calibri" pitchFamily="34" charset="0"/>
                <a:ea typeface="Calibri" pitchFamily="34" charset="-122"/>
                <a:cs typeface="Calibri" pitchFamily="34" charset="-120"/>
              </a:rPr>
              <a:t>2. 计算中点 t_mid = (lo + hi) / 2</a:t>
            </a:r>
            <a:endParaRPr lang="en-US" sz="950" dirty="0"/>
          </a:p>
          <a:p>
            <a:pPr marL="0" indent="0">
              <a:lnSpc>
                <a:spcPct val="130000"/>
              </a:lnSpc>
              <a:buNone/>
            </a:pPr>
            <a:endParaRPr lang="en-US" sz="950" dirty="0"/>
          </a:p>
          <a:p>
            <a:pPr marL="0" indent="0">
              <a:lnSpc>
                <a:spcPct val="130000"/>
              </a:lnSpc>
              <a:buNone/>
            </a:pPr>
            <a:r>
              <a:rPr lang="en-US" sz="950" dirty="0">
                <a:solidFill>
                  <a:srgbClr val="212121"/>
                </a:solidFill>
                <a:latin typeface="Calibri" pitchFamily="34" charset="0"/>
                <a:ea typeface="Calibri" pitchFamily="34" charset="-122"/>
                <a:cs typeface="Calibri" pitchFamily="34" charset="-120"/>
              </a:rPr>
              <a:t>3. 仿真计算两方案在 t_mid 处的耗电差</a:t>
            </a:r>
            <a:endParaRPr lang="en-US" sz="950" dirty="0"/>
          </a:p>
          <a:p>
            <a:pPr marL="0" indent="0">
              <a:lnSpc>
                <a:spcPct val="130000"/>
              </a:lnSpc>
              <a:buNone/>
            </a:pPr>
            <a:endParaRPr lang="en-US" sz="950" dirty="0"/>
          </a:p>
          <a:p>
            <a:pPr marL="0" indent="0">
              <a:lnSpc>
                <a:spcPct val="130000"/>
              </a:lnSpc>
              <a:buNone/>
            </a:pPr>
            <a:r>
              <a:rPr lang="en-US" sz="950" dirty="0">
                <a:solidFill>
                  <a:srgbClr val="212121"/>
                </a:solidFill>
                <a:latin typeface="Calibri" pitchFamily="34" charset="0"/>
                <a:ea typeface="Calibri" pitchFamily="34" charset="-122"/>
                <a:cs typeface="Calibri" pitchFamily="34" charset="-120"/>
              </a:rPr>
              <a:t>4. 根据差值符号缩小区间：</a:t>
            </a:r>
            <a:endParaRPr lang="en-US" sz="950" dirty="0"/>
          </a:p>
          <a:p>
            <a:pPr marL="0" indent="0">
              <a:lnSpc>
                <a:spcPct val="130000"/>
              </a:lnSpc>
              <a:buNone/>
            </a:pPr>
            <a:r>
              <a:rPr lang="en-US" sz="950" dirty="0">
                <a:solidFill>
                  <a:srgbClr val="212121"/>
                </a:solidFill>
                <a:latin typeface="Calibri" pitchFamily="34" charset="0"/>
                <a:ea typeface="Calibri" pitchFamily="34" charset="-122"/>
                <a:cs typeface="Calibri" pitchFamily="34" charset="-120"/>
              </a:rPr>
              <a:t>   • 差值 &gt; 0 → lo = t_mid</a:t>
            </a:r>
            <a:endParaRPr lang="en-US" sz="950" dirty="0"/>
          </a:p>
          <a:p>
            <a:pPr marL="0" indent="0">
              <a:lnSpc>
                <a:spcPct val="130000"/>
              </a:lnSpc>
              <a:buNone/>
            </a:pPr>
            <a:r>
              <a:rPr lang="en-US" sz="950" dirty="0">
                <a:solidFill>
                  <a:srgbClr val="212121"/>
                </a:solidFill>
                <a:latin typeface="Calibri" pitchFamily="34" charset="0"/>
                <a:ea typeface="Calibri" pitchFamily="34" charset="-122"/>
                <a:cs typeface="Calibri" pitchFamily="34" charset="-120"/>
              </a:rPr>
              <a:t>   • 差值 &lt; 0 → hi = t_mid</a:t>
            </a:r>
            <a:endParaRPr lang="en-US" sz="950" dirty="0"/>
          </a:p>
          <a:p>
            <a:pPr marL="0" indent="0">
              <a:lnSpc>
                <a:spcPct val="130000"/>
              </a:lnSpc>
              <a:buNone/>
            </a:pPr>
            <a:endParaRPr lang="en-US" sz="950" dirty="0"/>
          </a:p>
          <a:p>
            <a:pPr marL="0" indent="0">
              <a:lnSpc>
                <a:spcPct val="130000"/>
              </a:lnSpc>
              <a:buNone/>
            </a:pPr>
            <a:r>
              <a:rPr lang="en-US" sz="950" dirty="0">
                <a:solidFill>
                  <a:srgbClr val="212121"/>
                </a:solidFill>
                <a:latin typeface="Calibri" pitchFamily="34" charset="0"/>
                <a:ea typeface="Calibri" pitchFamily="34" charset="-122"/>
                <a:cs typeface="Calibri" pitchFamily="34" charset="-120"/>
              </a:rPr>
              <a:t>5. 重复步骤 2~4，直至区间宽度 &lt; 0.01h</a:t>
            </a:r>
            <a:endParaRPr lang="en-US" sz="950" dirty="0"/>
          </a:p>
          <a:p>
            <a:pPr marL="0" indent="0">
              <a:lnSpc>
                <a:spcPct val="130000"/>
              </a:lnSpc>
              <a:buNone/>
            </a:pPr>
            <a:endParaRPr lang="en-US" sz="950" dirty="0"/>
          </a:p>
          <a:p>
            <a:pPr marL="0" indent="0">
              <a:lnSpc>
                <a:spcPct val="130000"/>
              </a:lnSpc>
              <a:buNone/>
            </a:pPr>
            <a:r>
              <a:rPr lang="en-US" sz="950" dirty="0">
                <a:solidFill>
                  <a:srgbClr val="212121"/>
                </a:solidFill>
                <a:latin typeface="Calibri" pitchFamily="34" charset="0"/>
                <a:ea typeface="Calibri" pitchFamily="34" charset="-122"/>
                <a:cs typeface="Calibri" pitchFamily="34" charset="-120"/>
              </a:rPr>
              <a:t>典型收敛：3~5 轮迭代即可达到 0.01h 精度</a:t>
            </a:r>
            <a:endParaRPr lang="en-US" sz="950" dirty="0"/>
          </a:p>
        </p:txBody>
      </p:sp>
      <p:pic>
        <p:nvPicPr>
          <p:cNvPr id="8" name="Image 0" descr="preencoded.png"/>
          <p:cNvPicPr>
            <a:picLocks noChangeAspect="1"/>
          </p:cNvPicPr>
          <p:nvPr/>
        </p:nvPicPr>
        <p:blipFill>
          <a:blip r:embed="rId3"/>
          <a:stretch>
            <a:fillRect/>
          </a:stretch>
        </p:blipFill>
        <p:spPr>
          <a:xfrm>
            <a:off x="4572000" y="1367028"/>
            <a:ext cx="4114800" cy="2569464"/>
          </a:xfrm>
          <a:prstGeom prst="rect">
            <a:avLst/>
          </a:prstGeom>
        </p:spPr>
      </p:pic>
      <p:sp>
        <p:nvSpPr>
          <p:cNvPr id="9" name="Text 6"/>
          <p:cNvSpPr/>
          <p:nvPr/>
        </p:nvSpPr>
        <p:spPr>
          <a:xfrm>
            <a:off x="4572000" y="4480560"/>
            <a:ext cx="4114800" cy="457200"/>
          </a:xfrm>
          <a:prstGeom prst="rect">
            <a:avLst/>
          </a:prstGeom>
          <a:noFill/>
          <a:ln/>
        </p:spPr>
        <p:txBody>
          <a:bodyPr wrap="square" rtlCol="0" anchor="t"/>
          <a:lstStyle/>
          <a:p>
            <a:pPr marL="0" indent="0">
              <a:lnSpc>
                <a:spcPct val="120000"/>
              </a:lnSpc>
              <a:buNone/>
            </a:pPr>
            <a:r>
              <a:rPr lang="en-US" sz="800" dirty="0">
                <a:solidFill>
                  <a:srgbClr val="212121"/>
                </a:solidFill>
                <a:latin typeface="Calibri" pitchFamily="34" charset="0"/>
                <a:ea typeface="Calibri" pitchFamily="34" charset="-122"/>
                <a:cs typeface="Calibri" pitchFamily="34" charset="-120"/>
              </a:rPr>
              <a:t>展示从粗略区间到精确临界点的收敛过程。纵轴为搜索区间宽度（对数坐标），横轴为迭代轮次。曲线呈指数衰减，3~5轮即达目标精度。</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txBody>
          <a:bodyPr/>
          <a:lstStyle/>
          <a:p>
            <a:endParaRPr lang="zh-CN" altLang="en-US"/>
          </a:p>
        </p:txBody>
      </p:sp>
      <p:sp>
        <p:nvSpPr>
          <p:cNvPr id="3" name="Text 1"/>
          <p:cNvSpPr/>
          <p:nvPr/>
        </p:nvSpPr>
        <p:spPr>
          <a:xfrm>
            <a:off x="457200" y="45720"/>
            <a:ext cx="8229600" cy="548640"/>
          </a:xfrm>
          <a:prstGeom prst="rect">
            <a:avLst/>
          </a:prstGeom>
          <a:noFill/>
          <a:ln/>
        </p:spPr>
        <p:txBody>
          <a:bodyPr wrap="square"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方差分析结果（ANOVA）</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marL="0" indent="0" algn="r">
              <a:buNone/>
            </a:pPr>
            <a:r>
              <a:rPr lang="en-US" sz="800" dirty="0">
                <a:solidFill>
                  <a:srgbClr val="999999"/>
                </a:solidFill>
                <a:latin typeface="Calibri" pitchFamily="34" charset="0"/>
                <a:ea typeface="Calibri" pitchFamily="34" charset="-122"/>
                <a:cs typeface="Calibri" pitchFamily="34" charset="-120"/>
              </a:rPr>
              <a:t>12 / 25</a:t>
            </a:r>
            <a:endParaRPr lang="en-US" sz="800" dirty="0"/>
          </a:p>
        </p:txBody>
      </p:sp>
      <p:pic>
        <p:nvPicPr>
          <p:cNvPr id="5" name="Image 0" descr="preencoded.png"/>
          <p:cNvPicPr>
            <a:picLocks noChangeAspect="1"/>
          </p:cNvPicPr>
          <p:nvPr/>
        </p:nvPicPr>
        <p:blipFill>
          <a:blip r:embed="rId3"/>
          <a:stretch>
            <a:fillRect/>
          </a:stretch>
        </p:blipFill>
        <p:spPr>
          <a:xfrm>
            <a:off x="457200" y="1220724"/>
            <a:ext cx="4572000" cy="2862072"/>
          </a:xfrm>
          <a:prstGeom prst="rect">
            <a:avLst/>
          </a:prstGeom>
        </p:spPr>
      </p:pic>
      <p:sp>
        <p:nvSpPr>
          <p:cNvPr id="6" name="Shape 3"/>
          <p:cNvSpPr/>
          <p:nvPr/>
        </p:nvSpPr>
        <p:spPr>
          <a:xfrm>
            <a:off x="5486400" y="914400"/>
            <a:ext cx="3200400" cy="3474720"/>
          </a:xfrm>
          <a:prstGeom prst="roundRect">
            <a:avLst>
              <a:gd name="adj" fmla="val 2857"/>
            </a:avLst>
          </a:prstGeom>
          <a:solidFill>
            <a:srgbClr val="F5F7FA"/>
          </a:solidFill>
          <a:ln w="6350">
            <a:solidFill>
              <a:srgbClr val="42A5F5"/>
            </a:solidFill>
            <a:prstDash val="solid"/>
          </a:ln>
        </p:spPr>
        <p:txBody>
          <a:bodyPr/>
          <a:lstStyle/>
          <a:p>
            <a:endParaRPr lang="zh-CN" altLang="en-US"/>
          </a:p>
        </p:txBody>
      </p:sp>
      <p:sp>
        <p:nvSpPr>
          <p:cNvPr id="7" name="Text 4"/>
          <p:cNvSpPr/>
          <p:nvPr/>
        </p:nvSpPr>
        <p:spPr>
          <a:xfrm>
            <a:off x="5623560" y="1005840"/>
            <a:ext cx="2926080" cy="320040"/>
          </a:xfrm>
          <a:prstGeom prst="rect">
            <a:avLst/>
          </a:prstGeom>
          <a:noFill/>
          <a:ln/>
        </p:spPr>
        <p:txBody>
          <a:bodyPr wrap="square" rtlCol="0" anchor="ctr"/>
          <a:lstStyle/>
          <a:p>
            <a:pPr marL="0" indent="0">
              <a:buNone/>
            </a:pPr>
            <a:r>
              <a:rPr lang="en-US" sz="1200" b="1" dirty="0">
                <a:solidFill>
                  <a:srgbClr val="0D47A1"/>
                </a:solidFill>
                <a:latin typeface="Calibri" pitchFamily="34" charset="0"/>
                <a:ea typeface="Calibri" pitchFamily="34" charset="-122"/>
                <a:cs typeface="Calibri" pitchFamily="34" charset="-120"/>
              </a:rPr>
              <a:t>关键发现</a:t>
            </a:r>
            <a:endParaRPr lang="en-US" sz="1200" dirty="0"/>
          </a:p>
        </p:txBody>
      </p:sp>
      <p:sp>
        <p:nvSpPr>
          <p:cNvPr id="8" name="Text 5"/>
          <p:cNvSpPr/>
          <p:nvPr/>
        </p:nvSpPr>
        <p:spPr>
          <a:xfrm>
            <a:off x="5623560" y="1371600"/>
            <a:ext cx="2926080" cy="2834640"/>
          </a:xfrm>
          <a:prstGeom prst="rect">
            <a:avLst/>
          </a:prstGeom>
          <a:noFill/>
          <a:ln/>
        </p:spPr>
        <p:txBody>
          <a:bodyPr wrap="square" rtlCol="0" anchor="t"/>
          <a:lstStyle/>
          <a:p>
            <a:pPr marL="0" indent="0">
              <a:lnSpc>
                <a:spcPct val="140000"/>
              </a:lnSpc>
              <a:buNone/>
            </a:pPr>
            <a:r>
              <a:rPr lang="en-US" sz="1000" dirty="0">
                <a:solidFill>
                  <a:srgbClr val="212121"/>
                </a:solidFill>
                <a:latin typeface="Calibri" pitchFamily="34" charset="0"/>
                <a:ea typeface="Calibri" pitchFamily="34" charset="-122"/>
                <a:cs typeface="Calibri" pitchFamily="34" charset="-120"/>
              </a:rPr>
              <a:t>• 外出时长与室外温度对节能效果的方差贡献率最高</a:t>
            </a:r>
            <a:endParaRPr lang="en-US" sz="1000" dirty="0"/>
          </a:p>
          <a:p>
            <a:pPr marL="0" indent="0">
              <a:lnSpc>
                <a:spcPct val="140000"/>
              </a:lnSpc>
              <a:buNone/>
            </a:pPr>
            <a:endParaRPr lang="en-US" sz="1000" dirty="0"/>
          </a:p>
          <a:p>
            <a:pPr marL="0" indent="0">
              <a:lnSpc>
                <a:spcPct val="140000"/>
              </a:lnSpc>
              <a:buNone/>
            </a:pPr>
            <a:r>
              <a:rPr lang="en-US" sz="1000" dirty="0">
                <a:solidFill>
                  <a:srgbClr val="212121"/>
                </a:solidFill>
                <a:latin typeface="Calibri" pitchFamily="34" charset="0"/>
                <a:ea typeface="Calibri" pitchFamily="34" charset="-122"/>
                <a:cs typeface="Calibri" pitchFamily="34" charset="-120"/>
              </a:rPr>
              <a:t>• 能效比（COP）的影响极小，几乎可以忽略</a:t>
            </a:r>
            <a:endParaRPr lang="en-US" sz="1000" dirty="0"/>
          </a:p>
          <a:p>
            <a:pPr marL="0" indent="0">
              <a:lnSpc>
                <a:spcPct val="140000"/>
              </a:lnSpc>
              <a:buNone/>
            </a:pPr>
            <a:endParaRPr lang="en-US" sz="1000" dirty="0"/>
          </a:p>
          <a:p>
            <a:pPr marL="0" indent="0">
              <a:lnSpc>
                <a:spcPct val="140000"/>
              </a:lnSpc>
              <a:buNone/>
            </a:pPr>
            <a:r>
              <a:rPr lang="en-US" sz="1000" dirty="0">
                <a:solidFill>
                  <a:srgbClr val="212121"/>
                </a:solidFill>
                <a:latin typeface="Calibri" pitchFamily="34" charset="0"/>
                <a:ea typeface="Calibri" pitchFamily="34" charset="-122"/>
                <a:cs typeface="Calibri" pitchFamily="34" charset="-120"/>
              </a:rPr>
              <a:t>• 热时间常数（τ）是建筑特性中最关键的因子</a:t>
            </a:r>
            <a:endParaRPr lang="en-US" sz="1000" dirty="0"/>
          </a:p>
          <a:p>
            <a:pPr marL="0" indent="0">
              <a:lnSpc>
                <a:spcPct val="140000"/>
              </a:lnSpc>
              <a:buNone/>
            </a:pPr>
            <a:endParaRPr lang="en-US" sz="1000" dirty="0"/>
          </a:p>
          <a:p>
            <a:pPr marL="0" indent="0">
              <a:lnSpc>
                <a:spcPct val="140000"/>
              </a:lnSpc>
              <a:buNone/>
            </a:pPr>
            <a:r>
              <a:rPr lang="en-US" sz="1000" dirty="0">
                <a:solidFill>
                  <a:srgbClr val="212121"/>
                </a:solidFill>
                <a:latin typeface="Calibri" pitchFamily="34" charset="0"/>
                <a:ea typeface="Calibri" pitchFamily="34" charset="-122"/>
                <a:cs typeface="Calibri" pitchFamily="34" charset="-120"/>
              </a:rPr>
              <a:t>• 设定温度的影响适中，用户可通过调节设定温度优化能耗</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txBody>
          <a:bodyPr/>
          <a:lstStyle/>
          <a:p>
            <a:endParaRPr lang="zh-CN" altLang="en-US"/>
          </a:p>
        </p:txBody>
      </p:sp>
      <p:sp>
        <p:nvSpPr>
          <p:cNvPr id="3" name="Text 1"/>
          <p:cNvSpPr/>
          <p:nvPr/>
        </p:nvSpPr>
        <p:spPr>
          <a:xfrm>
            <a:off x="457200" y="45720"/>
            <a:ext cx="8229600" cy="548640"/>
          </a:xfrm>
          <a:prstGeom prst="rect">
            <a:avLst/>
          </a:prstGeom>
          <a:noFill/>
          <a:ln/>
        </p:spPr>
        <p:txBody>
          <a:bodyPr wrap="square"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对比分析 (1/5)：外出时长维度</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marL="0" indent="0" algn="r">
              <a:buNone/>
            </a:pPr>
            <a:r>
              <a:rPr lang="en-US" sz="800" dirty="0">
                <a:solidFill>
                  <a:srgbClr val="999999"/>
                </a:solidFill>
                <a:latin typeface="Calibri" pitchFamily="34" charset="0"/>
                <a:ea typeface="Calibri" pitchFamily="34" charset="-122"/>
                <a:cs typeface="Calibri" pitchFamily="34" charset="-120"/>
              </a:rPr>
              <a:t>13 / 25</a:t>
            </a:r>
            <a:endParaRPr lang="en-US" sz="800" dirty="0"/>
          </a:p>
        </p:txBody>
      </p:sp>
      <p:pic>
        <p:nvPicPr>
          <p:cNvPr id="5" name="Image 0" descr="preencoded.png"/>
          <p:cNvPicPr>
            <a:picLocks noChangeAspect="1"/>
          </p:cNvPicPr>
          <p:nvPr/>
        </p:nvPicPr>
        <p:blipFill>
          <a:blip r:embed="rId3"/>
          <a:stretch>
            <a:fillRect/>
          </a:stretch>
        </p:blipFill>
        <p:spPr>
          <a:xfrm>
            <a:off x="2011680" y="822960"/>
            <a:ext cx="5120640" cy="3200400"/>
          </a:xfrm>
          <a:prstGeom prst="rect">
            <a:avLst/>
          </a:prstGeom>
        </p:spPr>
      </p:pic>
      <p:sp>
        <p:nvSpPr>
          <p:cNvPr id="6" name="Shape 3"/>
          <p:cNvSpPr/>
          <p:nvPr/>
        </p:nvSpPr>
        <p:spPr>
          <a:xfrm>
            <a:off x="457200" y="4114800"/>
            <a:ext cx="8229600" cy="822960"/>
          </a:xfrm>
          <a:prstGeom prst="roundRect">
            <a:avLst>
              <a:gd name="adj" fmla="val 5556"/>
            </a:avLst>
          </a:prstGeom>
          <a:solidFill>
            <a:srgbClr val="F5F7FA"/>
          </a:solidFill>
          <a:ln w="3810">
            <a:solidFill>
              <a:srgbClr val="E0E0E0"/>
            </a:solidFill>
            <a:prstDash val="solid"/>
          </a:ln>
        </p:spPr>
        <p:txBody>
          <a:bodyPr/>
          <a:lstStyle/>
          <a:p>
            <a:endParaRPr lang="zh-CN" altLang="en-US"/>
          </a:p>
        </p:txBody>
      </p:sp>
      <p:sp>
        <p:nvSpPr>
          <p:cNvPr id="7" name="Text 4"/>
          <p:cNvSpPr/>
          <p:nvPr/>
        </p:nvSpPr>
        <p:spPr>
          <a:xfrm>
            <a:off x="594360" y="4160520"/>
            <a:ext cx="7955280" cy="731520"/>
          </a:xfrm>
          <a:prstGeom prst="rect">
            <a:avLst/>
          </a:prstGeom>
          <a:noFill/>
          <a:ln/>
        </p:spPr>
        <p:txBody>
          <a:bodyPr wrap="square" rtlCol="0" anchor="t"/>
          <a:lstStyle/>
          <a:p>
            <a:pPr marL="0" indent="0">
              <a:lnSpc>
                <a:spcPct val="130000"/>
              </a:lnSpc>
              <a:buNone/>
            </a:pPr>
            <a:r>
              <a:rPr lang="en-US" sz="950" dirty="0">
                <a:solidFill>
                  <a:srgbClr val="212121"/>
                </a:solidFill>
                <a:latin typeface="Calibri" pitchFamily="34" charset="0"/>
                <a:ea typeface="Calibri" pitchFamily="34" charset="-122"/>
                <a:cs typeface="Calibri" pitchFamily="34" charset="-120"/>
              </a:rPr>
              <a:t>随着外出时长增加，间歇关机重启的节能优势逐渐显现。蓝色（方案A：持续运行）与红色（方案B：关机重启）拟合线的交点即为临界外出时长，低于该值持续运行更优。</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txBody>
          <a:bodyPr/>
          <a:lstStyle/>
          <a:p>
            <a:endParaRPr lang="zh-CN" altLang="en-US"/>
          </a:p>
        </p:txBody>
      </p:sp>
      <p:sp>
        <p:nvSpPr>
          <p:cNvPr id="3" name="Text 1"/>
          <p:cNvSpPr/>
          <p:nvPr/>
        </p:nvSpPr>
        <p:spPr>
          <a:xfrm>
            <a:off x="457200" y="45720"/>
            <a:ext cx="8229600" cy="548640"/>
          </a:xfrm>
          <a:prstGeom prst="rect">
            <a:avLst/>
          </a:prstGeom>
          <a:noFill/>
          <a:ln/>
        </p:spPr>
        <p:txBody>
          <a:bodyPr wrap="square"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对比分析 (2/5)：室外温度维度</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marL="0" indent="0" algn="r">
              <a:buNone/>
            </a:pPr>
            <a:r>
              <a:rPr lang="en-US" sz="800" dirty="0">
                <a:solidFill>
                  <a:srgbClr val="999999"/>
                </a:solidFill>
                <a:latin typeface="Calibri" pitchFamily="34" charset="0"/>
                <a:ea typeface="Calibri" pitchFamily="34" charset="-122"/>
                <a:cs typeface="Calibri" pitchFamily="34" charset="-120"/>
              </a:rPr>
              <a:t>14 / 25</a:t>
            </a:r>
            <a:endParaRPr lang="en-US" sz="800" dirty="0"/>
          </a:p>
        </p:txBody>
      </p:sp>
      <p:pic>
        <p:nvPicPr>
          <p:cNvPr id="5" name="Image 0" descr="preencoded.png"/>
          <p:cNvPicPr>
            <a:picLocks noChangeAspect="1"/>
          </p:cNvPicPr>
          <p:nvPr/>
        </p:nvPicPr>
        <p:blipFill>
          <a:blip r:embed="rId3"/>
          <a:stretch>
            <a:fillRect/>
          </a:stretch>
        </p:blipFill>
        <p:spPr>
          <a:xfrm>
            <a:off x="2011680" y="822960"/>
            <a:ext cx="5120640" cy="3200400"/>
          </a:xfrm>
          <a:prstGeom prst="rect">
            <a:avLst/>
          </a:prstGeom>
        </p:spPr>
      </p:pic>
      <p:sp>
        <p:nvSpPr>
          <p:cNvPr id="6" name="Shape 3"/>
          <p:cNvSpPr/>
          <p:nvPr/>
        </p:nvSpPr>
        <p:spPr>
          <a:xfrm>
            <a:off x="457200" y="4114800"/>
            <a:ext cx="8229600" cy="822960"/>
          </a:xfrm>
          <a:prstGeom prst="roundRect">
            <a:avLst>
              <a:gd name="adj" fmla="val 5556"/>
            </a:avLst>
          </a:prstGeom>
          <a:solidFill>
            <a:srgbClr val="F5F7FA"/>
          </a:solidFill>
          <a:ln w="3810">
            <a:solidFill>
              <a:srgbClr val="E0E0E0"/>
            </a:solidFill>
            <a:prstDash val="solid"/>
          </a:ln>
        </p:spPr>
        <p:txBody>
          <a:bodyPr/>
          <a:lstStyle/>
          <a:p>
            <a:endParaRPr lang="zh-CN" altLang="en-US"/>
          </a:p>
        </p:txBody>
      </p:sp>
      <p:sp>
        <p:nvSpPr>
          <p:cNvPr id="7" name="Text 4"/>
          <p:cNvSpPr/>
          <p:nvPr/>
        </p:nvSpPr>
        <p:spPr>
          <a:xfrm>
            <a:off x="594360" y="4160520"/>
            <a:ext cx="7955280" cy="731520"/>
          </a:xfrm>
          <a:prstGeom prst="rect">
            <a:avLst/>
          </a:prstGeom>
          <a:noFill/>
          <a:ln/>
        </p:spPr>
        <p:txBody>
          <a:bodyPr wrap="square" rtlCol="0" anchor="t"/>
          <a:lstStyle/>
          <a:p>
            <a:pPr marL="0" indent="0">
              <a:lnSpc>
                <a:spcPct val="130000"/>
              </a:lnSpc>
              <a:buNone/>
            </a:pPr>
            <a:r>
              <a:rPr lang="en-US" sz="950" dirty="0">
                <a:solidFill>
                  <a:srgbClr val="212121"/>
                </a:solidFill>
                <a:latin typeface="Calibri" pitchFamily="34" charset="0"/>
                <a:ea typeface="Calibri" pitchFamily="34" charset="-122"/>
                <a:cs typeface="Calibri" pitchFamily="34" charset="-120"/>
              </a:rPr>
              <a:t>室外环境温度越高，间歇关机重启的节能优势越显著。高温环境下关机可避免空调长时间高负荷运转，节能效果更加明显。</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txBody>
          <a:bodyPr/>
          <a:lstStyle/>
          <a:p>
            <a:endParaRPr lang="zh-CN" altLang="en-US"/>
          </a:p>
        </p:txBody>
      </p:sp>
      <p:sp>
        <p:nvSpPr>
          <p:cNvPr id="3" name="Text 1"/>
          <p:cNvSpPr/>
          <p:nvPr/>
        </p:nvSpPr>
        <p:spPr>
          <a:xfrm>
            <a:off x="457200" y="45720"/>
            <a:ext cx="8229600" cy="548640"/>
          </a:xfrm>
          <a:prstGeom prst="rect">
            <a:avLst/>
          </a:prstGeom>
          <a:noFill/>
          <a:ln/>
        </p:spPr>
        <p:txBody>
          <a:bodyPr wrap="square"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对比分析 (3/5)：热时间常数维度</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marL="0" indent="0" algn="r">
              <a:buNone/>
            </a:pPr>
            <a:r>
              <a:rPr lang="en-US" sz="800" dirty="0">
                <a:solidFill>
                  <a:srgbClr val="999999"/>
                </a:solidFill>
                <a:latin typeface="Calibri" pitchFamily="34" charset="0"/>
                <a:ea typeface="Calibri" pitchFamily="34" charset="-122"/>
                <a:cs typeface="Calibri" pitchFamily="34" charset="-120"/>
              </a:rPr>
              <a:t>15 / 25</a:t>
            </a:r>
            <a:endParaRPr lang="en-US" sz="800" dirty="0"/>
          </a:p>
        </p:txBody>
      </p:sp>
      <p:pic>
        <p:nvPicPr>
          <p:cNvPr id="5" name="Image 0" descr="preencoded.png"/>
          <p:cNvPicPr>
            <a:picLocks noChangeAspect="1"/>
          </p:cNvPicPr>
          <p:nvPr/>
        </p:nvPicPr>
        <p:blipFill>
          <a:blip r:embed="rId3"/>
          <a:stretch>
            <a:fillRect/>
          </a:stretch>
        </p:blipFill>
        <p:spPr>
          <a:xfrm>
            <a:off x="2011680" y="822960"/>
            <a:ext cx="5120640" cy="3200400"/>
          </a:xfrm>
          <a:prstGeom prst="rect">
            <a:avLst/>
          </a:prstGeom>
        </p:spPr>
      </p:pic>
      <p:sp>
        <p:nvSpPr>
          <p:cNvPr id="6" name="Shape 3"/>
          <p:cNvSpPr/>
          <p:nvPr/>
        </p:nvSpPr>
        <p:spPr>
          <a:xfrm>
            <a:off x="457200" y="4114800"/>
            <a:ext cx="8229600" cy="822960"/>
          </a:xfrm>
          <a:prstGeom prst="roundRect">
            <a:avLst>
              <a:gd name="adj" fmla="val 5556"/>
            </a:avLst>
          </a:prstGeom>
          <a:solidFill>
            <a:srgbClr val="F5F7FA"/>
          </a:solidFill>
          <a:ln w="3810">
            <a:solidFill>
              <a:srgbClr val="E0E0E0"/>
            </a:solidFill>
            <a:prstDash val="solid"/>
          </a:ln>
        </p:spPr>
        <p:txBody>
          <a:bodyPr/>
          <a:lstStyle/>
          <a:p>
            <a:endParaRPr lang="zh-CN" altLang="en-US"/>
          </a:p>
        </p:txBody>
      </p:sp>
      <p:sp>
        <p:nvSpPr>
          <p:cNvPr id="7" name="Text 4"/>
          <p:cNvSpPr/>
          <p:nvPr/>
        </p:nvSpPr>
        <p:spPr>
          <a:xfrm>
            <a:off x="594360" y="4160520"/>
            <a:ext cx="7955280" cy="731520"/>
          </a:xfrm>
          <a:prstGeom prst="rect">
            <a:avLst/>
          </a:prstGeom>
          <a:noFill/>
          <a:ln/>
        </p:spPr>
        <p:txBody>
          <a:bodyPr wrap="square" rtlCol="0" anchor="t"/>
          <a:lstStyle/>
          <a:p>
            <a:pPr marL="0" indent="0">
              <a:lnSpc>
                <a:spcPct val="130000"/>
              </a:lnSpc>
              <a:buNone/>
            </a:pPr>
            <a:r>
              <a:rPr lang="en-US" sz="950" dirty="0">
                <a:solidFill>
                  <a:srgbClr val="212121"/>
                </a:solidFill>
                <a:latin typeface="Calibri" pitchFamily="34" charset="0"/>
                <a:ea typeface="Calibri" pitchFamily="34" charset="-122"/>
                <a:cs typeface="Calibri" pitchFamily="34" charset="-120"/>
              </a:rPr>
              <a:t>建筑围护结构热时间常数越大，关机后室温回升越缓慢，重启急冷所需额外能耗越少，有利于关机节能策略。</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txBody>
          <a:bodyPr/>
          <a:lstStyle/>
          <a:p>
            <a:endParaRPr lang="zh-CN" altLang="en-US"/>
          </a:p>
        </p:txBody>
      </p:sp>
      <p:sp>
        <p:nvSpPr>
          <p:cNvPr id="3" name="Text 1"/>
          <p:cNvSpPr/>
          <p:nvPr/>
        </p:nvSpPr>
        <p:spPr>
          <a:xfrm>
            <a:off x="457200" y="45720"/>
            <a:ext cx="8229600" cy="548640"/>
          </a:xfrm>
          <a:prstGeom prst="rect">
            <a:avLst/>
          </a:prstGeom>
          <a:noFill/>
          <a:ln/>
        </p:spPr>
        <p:txBody>
          <a:bodyPr wrap="square"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对比分析 (4/5)：能效比维度</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marL="0" indent="0" algn="r">
              <a:buNone/>
            </a:pPr>
            <a:r>
              <a:rPr lang="en-US" sz="800" dirty="0">
                <a:solidFill>
                  <a:srgbClr val="999999"/>
                </a:solidFill>
                <a:latin typeface="Calibri" pitchFamily="34" charset="0"/>
                <a:ea typeface="Calibri" pitchFamily="34" charset="-122"/>
                <a:cs typeface="Calibri" pitchFamily="34" charset="-120"/>
              </a:rPr>
              <a:t>16 / 25</a:t>
            </a:r>
            <a:endParaRPr lang="en-US" sz="800" dirty="0"/>
          </a:p>
        </p:txBody>
      </p:sp>
      <p:pic>
        <p:nvPicPr>
          <p:cNvPr id="5" name="Image 0" descr="preencoded.png"/>
          <p:cNvPicPr>
            <a:picLocks noChangeAspect="1"/>
          </p:cNvPicPr>
          <p:nvPr/>
        </p:nvPicPr>
        <p:blipFill>
          <a:blip r:embed="rId3"/>
          <a:stretch>
            <a:fillRect/>
          </a:stretch>
        </p:blipFill>
        <p:spPr>
          <a:xfrm>
            <a:off x="2011680" y="822960"/>
            <a:ext cx="5120640" cy="3200400"/>
          </a:xfrm>
          <a:prstGeom prst="rect">
            <a:avLst/>
          </a:prstGeom>
        </p:spPr>
      </p:pic>
      <p:sp>
        <p:nvSpPr>
          <p:cNvPr id="6" name="Shape 3"/>
          <p:cNvSpPr/>
          <p:nvPr/>
        </p:nvSpPr>
        <p:spPr>
          <a:xfrm>
            <a:off x="457200" y="4114800"/>
            <a:ext cx="8229600" cy="822960"/>
          </a:xfrm>
          <a:prstGeom prst="roundRect">
            <a:avLst>
              <a:gd name="adj" fmla="val 5556"/>
            </a:avLst>
          </a:prstGeom>
          <a:solidFill>
            <a:srgbClr val="F5F7FA"/>
          </a:solidFill>
          <a:ln w="3810">
            <a:solidFill>
              <a:srgbClr val="E0E0E0"/>
            </a:solidFill>
            <a:prstDash val="solid"/>
          </a:ln>
        </p:spPr>
        <p:txBody>
          <a:bodyPr/>
          <a:lstStyle/>
          <a:p>
            <a:endParaRPr lang="zh-CN" altLang="en-US"/>
          </a:p>
        </p:txBody>
      </p:sp>
      <p:sp>
        <p:nvSpPr>
          <p:cNvPr id="7" name="Text 4"/>
          <p:cNvSpPr/>
          <p:nvPr/>
        </p:nvSpPr>
        <p:spPr>
          <a:xfrm>
            <a:off x="594360" y="4160520"/>
            <a:ext cx="7955280" cy="731520"/>
          </a:xfrm>
          <a:prstGeom prst="rect">
            <a:avLst/>
          </a:prstGeom>
          <a:noFill/>
          <a:ln/>
        </p:spPr>
        <p:txBody>
          <a:bodyPr wrap="square" rtlCol="0" anchor="t"/>
          <a:lstStyle/>
          <a:p>
            <a:pPr marL="0" indent="0">
              <a:lnSpc>
                <a:spcPct val="130000"/>
              </a:lnSpc>
              <a:buNone/>
            </a:pPr>
            <a:r>
              <a:rPr lang="en-US" sz="950" dirty="0">
                <a:solidFill>
                  <a:srgbClr val="212121"/>
                </a:solidFill>
                <a:latin typeface="Calibri" pitchFamily="34" charset="0"/>
                <a:ea typeface="Calibri" pitchFamily="34" charset="-122"/>
                <a:cs typeface="Calibri" pitchFamily="34" charset="-120"/>
              </a:rPr>
              <a:t>能效比对两方案耗电差异的影响较小，高能效比空调在两种方案下均表现出较低的绝对耗电量，但临界外出时长变化不大。</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txBody>
          <a:bodyPr/>
          <a:lstStyle/>
          <a:p>
            <a:endParaRPr lang="zh-CN" altLang="en-US"/>
          </a:p>
        </p:txBody>
      </p:sp>
      <p:sp>
        <p:nvSpPr>
          <p:cNvPr id="3" name="Text 1"/>
          <p:cNvSpPr/>
          <p:nvPr/>
        </p:nvSpPr>
        <p:spPr>
          <a:xfrm>
            <a:off x="457200" y="45720"/>
            <a:ext cx="8229600" cy="548640"/>
          </a:xfrm>
          <a:prstGeom prst="rect">
            <a:avLst/>
          </a:prstGeom>
          <a:noFill/>
          <a:ln/>
        </p:spPr>
        <p:txBody>
          <a:bodyPr wrap="square"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对比分析 (5/5)：设定温度维度</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marL="0" indent="0" algn="r">
              <a:buNone/>
            </a:pPr>
            <a:r>
              <a:rPr lang="en-US" sz="800" dirty="0">
                <a:solidFill>
                  <a:srgbClr val="999999"/>
                </a:solidFill>
                <a:latin typeface="Calibri" pitchFamily="34" charset="0"/>
                <a:ea typeface="Calibri" pitchFamily="34" charset="-122"/>
                <a:cs typeface="Calibri" pitchFamily="34" charset="-120"/>
              </a:rPr>
              <a:t>17 / 25</a:t>
            </a:r>
            <a:endParaRPr lang="en-US" sz="800" dirty="0"/>
          </a:p>
        </p:txBody>
      </p:sp>
      <p:pic>
        <p:nvPicPr>
          <p:cNvPr id="5" name="Image 0" descr="preencoded.png"/>
          <p:cNvPicPr>
            <a:picLocks noChangeAspect="1"/>
          </p:cNvPicPr>
          <p:nvPr/>
        </p:nvPicPr>
        <p:blipFill>
          <a:blip r:embed="rId3"/>
          <a:stretch>
            <a:fillRect/>
          </a:stretch>
        </p:blipFill>
        <p:spPr>
          <a:xfrm>
            <a:off x="2011680" y="822960"/>
            <a:ext cx="5120640" cy="3200400"/>
          </a:xfrm>
          <a:prstGeom prst="rect">
            <a:avLst/>
          </a:prstGeom>
        </p:spPr>
      </p:pic>
      <p:sp>
        <p:nvSpPr>
          <p:cNvPr id="6" name="Shape 3"/>
          <p:cNvSpPr/>
          <p:nvPr/>
        </p:nvSpPr>
        <p:spPr>
          <a:xfrm>
            <a:off x="457200" y="4114800"/>
            <a:ext cx="8229600" cy="822960"/>
          </a:xfrm>
          <a:prstGeom prst="roundRect">
            <a:avLst>
              <a:gd name="adj" fmla="val 5556"/>
            </a:avLst>
          </a:prstGeom>
          <a:solidFill>
            <a:srgbClr val="F5F7FA"/>
          </a:solidFill>
          <a:ln w="3810">
            <a:solidFill>
              <a:srgbClr val="E0E0E0"/>
            </a:solidFill>
            <a:prstDash val="solid"/>
          </a:ln>
        </p:spPr>
        <p:txBody>
          <a:bodyPr/>
          <a:lstStyle/>
          <a:p>
            <a:endParaRPr lang="zh-CN" altLang="en-US"/>
          </a:p>
        </p:txBody>
      </p:sp>
      <p:sp>
        <p:nvSpPr>
          <p:cNvPr id="7" name="Text 4"/>
          <p:cNvSpPr/>
          <p:nvPr/>
        </p:nvSpPr>
        <p:spPr>
          <a:xfrm>
            <a:off x="594360" y="4160520"/>
            <a:ext cx="7955280" cy="731520"/>
          </a:xfrm>
          <a:prstGeom prst="rect">
            <a:avLst/>
          </a:prstGeom>
          <a:noFill/>
          <a:ln/>
        </p:spPr>
        <p:txBody>
          <a:bodyPr wrap="square" rtlCol="0" anchor="t"/>
          <a:lstStyle/>
          <a:p>
            <a:pPr marL="0" indent="0">
              <a:lnSpc>
                <a:spcPct val="130000"/>
              </a:lnSpc>
              <a:buNone/>
            </a:pPr>
            <a:r>
              <a:rPr lang="en-US" sz="950" dirty="0">
                <a:solidFill>
                  <a:srgbClr val="212121"/>
                </a:solidFill>
                <a:latin typeface="Calibri" pitchFamily="34" charset="0"/>
                <a:ea typeface="Calibri" pitchFamily="34" charset="-122"/>
                <a:cs typeface="Calibri" pitchFamily="34" charset="-120"/>
              </a:rPr>
              <a:t>空调设定温度越高，维持运行功率越低，两方案的绝对耗电量差距缩小，临界外出时长相应变化。</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txBody>
          <a:bodyPr/>
          <a:lstStyle/>
          <a:p>
            <a:endParaRPr lang="zh-CN" altLang="en-US"/>
          </a:p>
        </p:txBody>
      </p:sp>
      <p:sp>
        <p:nvSpPr>
          <p:cNvPr id="3" name="Text 1"/>
          <p:cNvSpPr/>
          <p:nvPr/>
        </p:nvSpPr>
        <p:spPr>
          <a:xfrm>
            <a:off x="457200" y="45720"/>
            <a:ext cx="8229600" cy="548640"/>
          </a:xfrm>
          <a:prstGeom prst="rect">
            <a:avLst/>
          </a:prstGeom>
          <a:noFill/>
          <a:ln/>
        </p:spPr>
        <p:txBody>
          <a:bodyPr wrap="square"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对角线分析：方案A vs 方案B</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marL="0" indent="0" algn="r">
              <a:buNone/>
            </a:pPr>
            <a:r>
              <a:rPr lang="en-US" sz="800" dirty="0">
                <a:solidFill>
                  <a:srgbClr val="999999"/>
                </a:solidFill>
                <a:latin typeface="Calibri" pitchFamily="34" charset="0"/>
                <a:ea typeface="Calibri" pitchFamily="34" charset="-122"/>
                <a:cs typeface="Calibri" pitchFamily="34" charset="-120"/>
              </a:rPr>
              <a:t>18 / 25</a:t>
            </a:r>
            <a:endParaRPr lang="en-US" sz="800" dirty="0"/>
          </a:p>
        </p:txBody>
      </p:sp>
      <p:pic>
        <p:nvPicPr>
          <p:cNvPr id="5" name="Image 0" descr="preencoded.png"/>
          <p:cNvPicPr>
            <a:picLocks noChangeAspect="1"/>
          </p:cNvPicPr>
          <p:nvPr/>
        </p:nvPicPr>
        <p:blipFill>
          <a:blip r:embed="rId3"/>
          <a:stretch>
            <a:fillRect/>
          </a:stretch>
        </p:blipFill>
        <p:spPr>
          <a:xfrm>
            <a:off x="2011680" y="822960"/>
            <a:ext cx="5120640" cy="3200400"/>
          </a:xfrm>
          <a:prstGeom prst="rect">
            <a:avLst/>
          </a:prstGeom>
        </p:spPr>
      </p:pic>
      <p:sp>
        <p:nvSpPr>
          <p:cNvPr id="6" name="Shape 3"/>
          <p:cNvSpPr/>
          <p:nvPr/>
        </p:nvSpPr>
        <p:spPr>
          <a:xfrm>
            <a:off x="457200" y="4114800"/>
            <a:ext cx="8229600" cy="822960"/>
          </a:xfrm>
          <a:prstGeom prst="roundRect">
            <a:avLst>
              <a:gd name="adj" fmla="val 5556"/>
            </a:avLst>
          </a:prstGeom>
          <a:solidFill>
            <a:srgbClr val="F5F7FA"/>
          </a:solidFill>
          <a:ln w="3810">
            <a:solidFill>
              <a:srgbClr val="E0E0E0"/>
            </a:solidFill>
            <a:prstDash val="solid"/>
          </a:ln>
        </p:spPr>
        <p:txBody>
          <a:bodyPr/>
          <a:lstStyle/>
          <a:p>
            <a:endParaRPr lang="zh-CN" altLang="en-US"/>
          </a:p>
        </p:txBody>
      </p:sp>
      <p:sp>
        <p:nvSpPr>
          <p:cNvPr id="7" name="Text 4"/>
          <p:cNvSpPr/>
          <p:nvPr/>
        </p:nvSpPr>
        <p:spPr>
          <a:xfrm>
            <a:off x="594360" y="4160520"/>
            <a:ext cx="7955280" cy="731520"/>
          </a:xfrm>
          <a:prstGeom prst="rect">
            <a:avLst/>
          </a:prstGeom>
          <a:noFill/>
          <a:ln/>
        </p:spPr>
        <p:txBody>
          <a:bodyPr wrap="square" rtlCol="0" anchor="t"/>
          <a:lstStyle/>
          <a:p>
            <a:pPr marL="0" indent="0">
              <a:lnSpc>
                <a:spcPct val="130000"/>
              </a:lnSpc>
              <a:buNone/>
            </a:pPr>
            <a:r>
              <a:rPr lang="en-US" sz="950" dirty="0">
                <a:solidFill>
                  <a:srgbClr val="212121"/>
                </a:solidFill>
                <a:latin typeface="Calibri" pitchFamily="34" charset="0"/>
                <a:ea typeface="Calibri" pitchFamily="34" charset="-122"/>
                <a:cs typeface="Calibri" pitchFamily="34" charset="-120"/>
              </a:rPr>
              <a:t>对角线上方区域表示间歇关机反而费电（方案B耗电 &gt; 方案A），下方表示关机更省电。数据点分布反映了不同工况下两种方案的优劣关系。</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txBody>
          <a:bodyPr/>
          <a:lstStyle/>
          <a:p>
            <a:endParaRPr lang="zh-CN" altLang="en-US"/>
          </a:p>
        </p:txBody>
      </p:sp>
      <p:sp>
        <p:nvSpPr>
          <p:cNvPr id="3" name="Text 1"/>
          <p:cNvSpPr/>
          <p:nvPr/>
        </p:nvSpPr>
        <p:spPr>
          <a:xfrm>
            <a:off x="457200" y="45720"/>
            <a:ext cx="8229600" cy="548640"/>
          </a:xfrm>
          <a:prstGeom prst="rect">
            <a:avLst/>
          </a:prstGeom>
          <a:noFill/>
          <a:ln/>
        </p:spPr>
        <p:txBody>
          <a:bodyPr wrap="square"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等高线分析：临界曲线</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marL="0" indent="0" algn="r">
              <a:buNone/>
            </a:pPr>
            <a:r>
              <a:rPr lang="en-US" sz="800" dirty="0">
                <a:solidFill>
                  <a:srgbClr val="999999"/>
                </a:solidFill>
                <a:latin typeface="Calibri" pitchFamily="34" charset="0"/>
                <a:ea typeface="Calibri" pitchFamily="34" charset="-122"/>
                <a:cs typeface="Calibri" pitchFamily="34" charset="-120"/>
              </a:rPr>
              <a:t>19 / 25</a:t>
            </a:r>
            <a:endParaRPr lang="en-US" sz="800" dirty="0"/>
          </a:p>
        </p:txBody>
      </p:sp>
      <p:pic>
        <p:nvPicPr>
          <p:cNvPr id="5" name="Image 0" descr="preencoded.png"/>
          <p:cNvPicPr>
            <a:picLocks noChangeAspect="1"/>
          </p:cNvPicPr>
          <p:nvPr/>
        </p:nvPicPr>
        <p:blipFill>
          <a:blip r:embed="rId3"/>
          <a:stretch>
            <a:fillRect/>
          </a:stretch>
        </p:blipFill>
        <p:spPr>
          <a:xfrm>
            <a:off x="2011680" y="822960"/>
            <a:ext cx="5120640" cy="3200400"/>
          </a:xfrm>
          <a:prstGeom prst="rect">
            <a:avLst/>
          </a:prstGeom>
        </p:spPr>
      </p:pic>
      <p:sp>
        <p:nvSpPr>
          <p:cNvPr id="6" name="Shape 3"/>
          <p:cNvSpPr/>
          <p:nvPr/>
        </p:nvSpPr>
        <p:spPr>
          <a:xfrm>
            <a:off x="457200" y="4114800"/>
            <a:ext cx="8229600" cy="822960"/>
          </a:xfrm>
          <a:prstGeom prst="roundRect">
            <a:avLst>
              <a:gd name="adj" fmla="val 5556"/>
            </a:avLst>
          </a:prstGeom>
          <a:solidFill>
            <a:srgbClr val="F5F7FA"/>
          </a:solidFill>
          <a:ln w="3810">
            <a:solidFill>
              <a:srgbClr val="E0E0E0"/>
            </a:solidFill>
            <a:prstDash val="solid"/>
          </a:ln>
        </p:spPr>
        <p:txBody>
          <a:bodyPr/>
          <a:lstStyle/>
          <a:p>
            <a:endParaRPr lang="zh-CN" altLang="en-US"/>
          </a:p>
        </p:txBody>
      </p:sp>
      <p:sp>
        <p:nvSpPr>
          <p:cNvPr id="7" name="Text 4"/>
          <p:cNvSpPr/>
          <p:nvPr/>
        </p:nvSpPr>
        <p:spPr>
          <a:xfrm>
            <a:off x="594360" y="4160520"/>
            <a:ext cx="7955280" cy="731520"/>
          </a:xfrm>
          <a:prstGeom prst="rect">
            <a:avLst/>
          </a:prstGeom>
          <a:noFill/>
          <a:ln/>
        </p:spPr>
        <p:txBody>
          <a:bodyPr wrap="square" rtlCol="0" anchor="t"/>
          <a:lstStyle/>
          <a:p>
            <a:pPr marL="0" indent="0">
              <a:lnSpc>
                <a:spcPct val="130000"/>
              </a:lnSpc>
              <a:buNone/>
            </a:pPr>
            <a:r>
              <a:rPr lang="en-US" sz="950" dirty="0">
                <a:solidFill>
                  <a:srgbClr val="212121"/>
                </a:solidFill>
                <a:latin typeface="Calibri" pitchFamily="34" charset="0"/>
                <a:ea typeface="Calibri" pitchFamily="34" charset="-122"/>
                <a:cs typeface="Calibri" pitchFamily="34" charset="-120"/>
              </a:rPr>
              <a:t>等值线即为临界曲线，线上两种运行策略耗电量相等。曲线右侧区域关机更省电，左侧持续运行更优。临界曲线的形态揭示了外出时长与室外温度的交互效应。</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txBody>
          <a:bodyPr/>
          <a:lstStyle/>
          <a:p>
            <a:endParaRPr lang="zh-CN" altLang="en-US"/>
          </a:p>
        </p:txBody>
      </p:sp>
      <p:sp>
        <p:nvSpPr>
          <p:cNvPr id="3" name="Text 1"/>
          <p:cNvSpPr/>
          <p:nvPr/>
        </p:nvSpPr>
        <p:spPr>
          <a:xfrm>
            <a:off x="457200" y="45720"/>
            <a:ext cx="8229600" cy="548640"/>
          </a:xfrm>
          <a:prstGeom prst="rect">
            <a:avLst/>
          </a:prstGeom>
          <a:noFill/>
          <a:ln/>
        </p:spPr>
        <p:txBody>
          <a:bodyPr wrap="square"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三维曲面分析：节能比例空间分布</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marL="0" indent="0" algn="r">
              <a:buNone/>
            </a:pPr>
            <a:r>
              <a:rPr lang="en-US" sz="800" dirty="0">
                <a:solidFill>
                  <a:srgbClr val="999999"/>
                </a:solidFill>
                <a:latin typeface="Calibri" pitchFamily="34" charset="0"/>
                <a:ea typeface="Calibri" pitchFamily="34" charset="-122"/>
                <a:cs typeface="Calibri" pitchFamily="34" charset="-120"/>
              </a:rPr>
              <a:t>20 / 25</a:t>
            </a:r>
            <a:endParaRPr lang="en-US" sz="800" dirty="0"/>
          </a:p>
        </p:txBody>
      </p:sp>
      <p:pic>
        <p:nvPicPr>
          <p:cNvPr id="5" name="Image 0" descr="preencoded.png"/>
          <p:cNvPicPr>
            <a:picLocks noChangeAspect="1"/>
          </p:cNvPicPr>
          <p:nvPr/>
        </p:nvPicPr>
        <p:blipFill>
          <a:blip r:embed="rId3"/>
          <a:stretch>
            <a:fillRect/>
          </a:stretch>
        </p:blipFill>
        <p:spPr>
          <a:xfrm>
            <a:off x="2231136" y="822960"/>
            <a:ext cx="4681728" cy="2926080"/>
          </a:xfrm>
          <a:prstGeom prst="rect">
            <a:avLst/>
          </a:prstGeom>
        </p:spPr>
      </p:pic>
      <p:sp>
        <p:nvSpPr>
          <p:cNvPr id="6" name="Shape 3"/>
          <p:cNvSpPr/>
          <p:nvPr/>
        </p:nvSpPr>
        <p:spPr>
          <a:xfrm>
            <a:off x="457200" y="3840480"/>
            <a:ext cx="8229600" cy="640080"/>
          </a:xfrm>
          <a:prstGeom prst="roundRect">
            <a:avLst>
              <a:gd name="adj" fmla="val 7143"/>
            </a:avLst>
          </a:prstGeom>
          <a:solidFill>
            <a:srgbClr val="F5F7FA"/>
          </a:solidFill>
          <a:ln w="3810">
            <a:solidFill>
              <a:srgbClr val="E0E0E0"/>
            </a:solidFill>
            <a:prstDash val="solid"/>
          </a:ln>
        </p:spPr>
        <p:txBody>
          <a:bodyPr/>
          <a:lstStyle/>
          <a:p>
            <a:endParaRPr lang="zh-CN" altLang="en-US"/>
          </a:p>
        </p:txBody>
      </p:sp>
      <p:sp>
        <p:nvSpPr>
          <p:cNvPr id="7" name="Text 4"/>
          <p:cNvSpPr/>
          <p:nvPr/>
        </p:nvSpPr>
        <p:spPr>
          <a:xfrm>
            <a:off x="594360" y="3886200"/>
            <a:ext cx="7955280" cy="548640"/>
          </a:xfrm>
          <a:prstGeom prst="rect">
            <a:avLst/>
          </a:prstGeom>
          <a:noFill/>
          <a:ln/>
        </p:spPr>
        <p:txBody>
          <a:bodyPr wrap="square" rtlCol="0" anchor="t"/>
          <a:lstStyle/>
          <a:p>
            <a:pPr marL="0" indent="0">
              <a:lnSpc>
                <a:spcPct val="130000"/>
              </a:lnSpc>
              <a:buNone/>
            </a:pPr>
            <a:r>
              <a:rPr lang="en-US" sz="950" dirty="0">
                <a:solidFill>
                  <a:srgbClr val="212121"/>
                </a:solidFill>
                <a:latin typeface="Calibri" pitchFamily="34" charset="0"/>
                <a:ea typeface="Calibri" pitchFamily="34" charset="-122"/>
                <a:cs typeface="Calibri" pitchFamily="34" charset="-120"/>
              </a:rPr>
              <a:t>三维曲面展示了节能比例随外出时长和室外温度的空间分布趋势。曲面颜色从红色（费电）过渡到绿色（省电），直观反映临界区域。</a:t>
            </a:r>
            <a:endParaRPr lang="en-US" sz="950" dirty="0"/>
          </a:p>
        </p:txBody>
      </p:sp>
      <p:sp>
        <p:nvSpPr>
          <p:cNvPr id="8" name="Text 5">
            <a:hlinkClick r:id="rId4"/>
          </p:cNvPr>
          <p:cNvSpPr/>
          <p:nvPr/>
        </p:nvSpPr>
        <p:spPr>
          <a:xfrm>
            <a:off x="914400" y="4572000"/>
            <a:ext cx="2560320" cy="274320"/>
          </a:xfrm>
          <a:prstGeom prst="rect">
            <a:avLst/>
          </a:prstGeom>
          <a:noFill/>
          <a:ln/>
        </p:spPr>
        <p:txBody>
          <a:bodyPr wrap="square" rtlCol="0" anchor="ctr"/>
          <a:lstStyle/>
          <a:p>
            <a:pPr marL="0" indent="0">
              <a:buNone/>
            </a:pPr>
            <a:r>
              <a:rPr lang="en-US" sz="900" u="sng" dirty="0">
                <a:solidFill>
                  <a:srgbClr val="0D47A1"/>
                </a:solidFill>
                <a:latin typeface="Calibri" pitchFamily="34" charset="0"/>
                <a:ea typeface="Calibri" pitchFamily="34" charset="-122"/>
                <a:cs typeface="Calibri" pitchFamily="34" charset="-120"/>
                <a:hlinkClick r:id="rId5" action="ppaction://hlinkfile">
                  <a:extLst>
                    <a:ext uri="{A12FA001-AC4F-418D-AE19-62706E023703}">
                      <ahyp:hlinkClr xmlns:ahyp="http://schemas.microsoft.com/office/drawing/2018/hyperlinkcolor" val="tx"/>
                    </a:ext>
                  </a:extLst>
                </a:hlinkClick>
              </a:rPr>
              <a:t>▶ 点击查看旋转动画</a:t>
            </a:r>
            <a:endParaRPr lang="en-US" sz="900" dirty="0"/>
          </a:p>
        </p:txBody>
      </p:sp>
      <p:sp>
        <p:nvSpPr>
          <p:cNvPr id="9" name="Text 6">
            <a:hlinkClick r:id="rId6"/>
          </p:cNvPr>
          <p:cNvSpPr/>
          <p:nvPr/>
        </p:nvSpPr>
        <p:spPr>
          <a:xfrm>
            <a:off x="3657600" y="4572000"/>
            <a:ext cx="2286000" cy="274320"/>
          </a:xfrm>
          <a:prstGeom prst="rect">
            <a:avLst/>
          </a:prstGeom>
          <a:noFill/>
          <a:ln/>
        </p:spPr>
        <p:txBody>
          <a:bodyPr wrap="square" rtlCol="0" anchor="ctr"/>
          <a:lstStyle/>
          <a:p>
            <a:pPr marL="0" indent="0">
              <a:buNone/>
            </a:pPr>
            <a:r>
              <a:rPr lang="en-US" sz="900" u="sng" dirty="0">
                <a:solidFill>
                  <a:srgbClr val="4CAF50"/>
                </a:solidFill>
                <a:latin typeface="Calibri" pitchFamily="34" charset="0"/>
                <a:ea typeface="Calibri" pitchFamily="34" charset="-122"/>
                <a:cs typeface="Calibri" pitchFamily="34" charset="-120"/>
                <a:hlinkClick r:id="rId7" action="ppaction://hlinkfile">
                  <a:extLst>
                    <a:ext uri="{A12FA001-AC4F-418D-AE19-62706E023703}">
                      <ahyp:hlinkClr xmlns:ahyp="http://schemas.microsoft.com/office/drawing/2018/hyperlinkcolor" val="tx"/>
                    </a:ext>
                  </a:extLst>
                </a:hlinkClick>
              </a:rPr>
              <a:t>▶ 打开交互仪表盘</a:t>
            </a:r>
            <a:endParaRPr lang="en-US" sz="900" dirty="0"/>
          </a:p>
        </p:txBody>
      </p:sp>
      <p:sp>
        <p:nvSpPr>
          <p:cNvPr id="10" name="Text 7">
            <a:hlinkClick r:id="rId8"/>
          </p:cNvPr>
          <p:cNvSpPr/>
          <p:nvPr/>
        </p:nvSpPr>
        <p:spPr>
          <a:xfrm>
            <a:off x="6217920" y="4572000"/>
            <a:ext cx="2286000" cy="274320"/>
          </a:xfrm>
          <a:prstGeom prst="rect">
            <a:avLst/>
          </a:prstGeom>
          <a:noFill/>
          <a:ln/>
        </p:spPr>
        <p:txBody>
          <a:bodyPr wrap="square" rtlCol="0" anchor="ctr"/>
          <a:lstStyle/>
          <a:p>
            <a:pPr marL="0" indent="0">
              <a:buNone/>
            </a:pPr>
            <a:r>
              <a:rPr lang="en-US" sz="900" u="sng" dirty="0">
                <a:solidFill>
                  <a:srgbClr val="42A5F5"/>
                </a:solidFill>
                <a:latin typeface="Calibri" pitchFamily="34" charset="0"/>
                <a:ea typeface="Calibri" pitchFamily="34" charset="-122"/>
                <a:cs typeface="Calibri" pitchFamily="34" charset="-120"/>
                <a:hlinkClick r:id="rId9" action="ppaction://hlinkfile">
                  <a:extLst>
                    <a:ext uri="{A12FA001-AC4F-418D-AE19-62706E023703}">
                      <ahyp:hlinkClr xmlns:ahyp="http://schemas.microsoft.com/office/drawing/2018/hyperlinkcolor" val="tx"/>
                    </a:ext>
                  </a:extLst>
                </a:hlinkClick>
              </a:rPr>
              <a:t>▶ 查看完整数据</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txBody>
          <a:bodyPr/>
          <a:lstStyle/>
          <a:p>
            <a:endParaRPr lang="zh-CN" altLang="en-US"/>
          </a:p>
        </p:txBody>
      </p:sp>
      <p:sp>
        <p:nvSpPr>
          <p:cNvPr id="3" name="Text 1"/>
          <p:cNvSpPr/>
          <p:nvPr/>
        </p:nvSpPr>
        <p:spPr>
          <a:xfrm>
            <a:off x="457200" y="45720"/>
            <a:ext cx="8229600" cy="548640"/>
          </a:xfrm>
          <a:prstGeom prst="rect">
            <a:avLst/>
          </a:prstGeom>
          <a:noFill/>
          <a:ln/>
        </p:spPr>
        <p:txBody>
          <a:bodyPr wrap="square"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综合影响力加权分析</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marL="0" indent="0" algn="r">
              <a:buNone/>
            </a:pPr>
            <a:r>
              <a:rPr lang="en-US" sz="800" dirty="0">
                <a:solidFill>
                  <a:srgbClr val="999999"/>
                </a:solidFill>
                <a:latin typeface="Calibri" pitchFamily="34" charset="0"/>
                <a:ea typeface="Calibri" pitchFamily="34" charset="-122"/>
                <a:cs typeface="Calibri" pitchFamily="34" charset="-120"/>
              </a:rPr>
              <a:t>21 / 25</a:t>
            </a:r>
            <a:endParaRPr lang="en-US" sz="800" dirty="0"/>
          </a:p>
        </p:txBody>
      </p:sp>
      <p:pic>
        <p:nvPicPr>
          <p:cNvPr id="5" name="Image 0" descr="preencoded.png"/>
          <p:cNvPicPr>
            <a:picLocks noChangeAspect="1"/>
          </p:cNvPicPr>
          <p:nvPr/>
        </p:nvPicPr>
        <p:blipFill>
          <a:blip r:embed="rId3"/>
          <a:stretch>
            <a:fillRect/>
          </a:stretch>
        </p:blipFill>
        <p:spPr>
          <a:xfrm>
            <a:off x="2011680" y="822960"/>
            <a:ext cx="5120640" cy="3200400"/>
          </a:xfrm>
          <a:prstGeom prst="rect">
            <a:avLst/>
          </a:prstGeom>
        </p:spPr>
      </p:pic>
      <p:sp>
        <p:nvSpPr>
          <p:cNvPr id="6" name="Shape 3"/>
          <p:cNvSpPr/>
          <p:nvPr/>
        </p:nvSpPr>
        <p:spPr>
          <a:xfrm>
            <a:off x="457200" y="4114800"/>
            <a:ext cx="8229600" cy="822960"/>
          </a:xfrm>
          <a:prstGeom prst="roundRect">
            <a:avLst>
              <a:gd name="adj" fmla="val 5556"/>
            </a:avLst>
          </a:prstGeom>
          <a:solidFill>
            <a:srgbClr val="F5F7FA"/>
          </a:solidFill>
          <a:ln w="3810">
            <a:solidFill>
              <a:srgbClr val="E0E0E0"/>
            </a:solidFill>
            <a:prstDash val="solid"/>
          </a:ln>
        </p:spPr>
        <p:txBody>
          <a:bodyPr/>
          <a:lstStyle/>
          <a:p>
            <a:endParaRPr lang="zh-CN" altLang="en-US"/>
          </a:p>
        </p:txBody>
      </p:sp>
      <p:sp>
        <p:nvSpPr>
          <p:cNvPr id="7" name="Text 4"/>
          <p:cNvSpPr/>
          <p:nvPr/>
        </p:nvSpPr>
        <p:spPr>
          <a:xfrm>
            <a:off x="594360" y="4160520"/>
            <a:ext cx="7955280" cy="731520"/>
          </a:xfrm>
          <a:prstGeom prst="rect">
            <a:avLst/>
          </a:prstGeom>
          <a:noFill/>
          <a:ln/>
        </p:spPr>
        <p:txBody>
          <a:bodyPr wrap="square" rtlCol="0" anchor="t"/>
          <a:lstStyle/>
          <a:p>
            <a:pPr marL="0" indent="0">
              <a:lnSpc>
                <a:spcPct val="130000"/>
              </a:lnSpc>
              <a:buNone/>
            </a:pPr>
            <a:r>
              <a:rPr lang="en-US" sz="950" dirty="0">
                <a:solidFill>
                  <a:srgbClr val="212121"/>
                </a:solidFill>
                <a:latin typeface="Calibri" pitchFamily="34" charset="0"/>
                <a:ea typeface="Calibri" pitchFamily="34" charset="-122"/>
                <a:cs typeface="Calibri" pitchFamily="34" charset="-120"/>
              </a:rPr>
              <a:t>建筑围护结构热时间常数以84.8%的标准化权重成为决定临界外出时长的绝对主导因素，其次是室外环境温度。能效比的影响力极小（&lt;1%）。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txBody>
          <a:bodyPr/>
          <a:lstStyle/>
          <a:p>
            <a:endParaRPr lang="zh-CN" altLang="en-US"/>
          </a:p>
        </p:txBody>
      </p:sp>
      <p:sp>
        <p:nvSpPr>
          <p:cNvPr id="3" name="Text 1"/>
          <p:cNvSpPr/>
          <p:nvPr/>
        </p:nvSpPr>
        <p:spPr>
          <a:xfrm>
            <a:off x="457200" y="45720"/>
            <a:ext cx="8229600" cy="548640"/>
          </a:xfrm>
          <a:prstGeom prst="rect">
            <a:avLst/>
          </a:prstGeom>
          <a:noFill/>
          <a:ln/>
        </p:spPr>
        <p:txBody>
          <a:bodyPr wrap="square"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敏感性分析</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marL="0" indent="0" algn="r">
              <a:buNone/>
            </a:pPr>
            <a:r>
              <a:rPr lang="en-US" sz="800" dirty="0">
                <a:solidFill>
                  <a:srgbClr val="999999"/>
                </a:solidFill>
                <a:latin typeface="Calibri" pitchFamily="34" charset="0"/>
                <a:ea typeface="Calibri" pitchFamily="34" charset="-122"/>
                <a:cs typeface="Calibri" pitchFamily="34" charset="-120"/>
              </a:rPr>
              <a:t>22 / 25</a:t>
            </a:r>
            <a:endParaRPr lang="en-US" sz="800" dirty="0"/>
          </a:p>
        </p:txBody>
      </p:sp>
      <p:pic>
        <p:nvPicPr>
          <p:cNvPr id="5" name="Image 0" descr="preencoded.png"/>
          <p:cNvPicPr>
            <a:picLocks noChangeAspect="1"/>
          </p:cNvPicPr>
          <p:nvPr/>
        </p:nvPicPr>
        <p:blipFill>
          <a:blip r:embed="rId3"/>
          <a:stretch>
            <a:fillRect/>
          </a:stretch>
        </p:blipFill>
        <p:spPr>
          <a:xfrm>
            <a:off x="2011680" y="822960"/>
            <a:ext cx="5120640" cy="3200400"/>
          </a:xfrm>
          <a:prstGeom prst="rect">
            <a:avLst/>
          </a:prstGeom>
        </p:spPr>
      </p:pic>
      <p:sp>
        <p:nvSpPr>
          <p:cNvPr id="6" name="Shape 3"/>
          <p:cNvSpPr/>
          <p:nvPr/>
        </p:nvSpPr>
        <p:spPr>
          <a:xfrm>
            <a:off x="457200" y="4114800"/>
            <a:ext cx="8229600" cy="822960"/>
          </a:xfrm>
          <a:prstGeom prst="roundRect">
            <a:avLst>
              <a:gd name="adj" fmla="val 5556"/>
            </a:avLst>
          </a:prstGeom>
          <a:solidFill>
            <a:srgbClr val="F5F7FA"/>
          </a:solidFill>
          <a:ln w="3810">
            <a:solidFill>
              <a:srgbClr val="E0E0E0"/>
            </a:solidFill>
            <a:prstDash val="solid"/>
          </a:ln>
        </p:spPr>
        <p:txBody>
          <a:bodyPr/>
          <a:lstStyle/>
          <a:p>
            <a:endParaRPr lang="zh-CN" altLang="en-US"/>
          </a:p>
        </p:txBody>
      </p:sp>
      <p:sp>
        <p:nvSpPr>
          <p:cNvPr id="7" name="Text 4"/>
          <p:cNvSpPr/>
          <p:nvPr/>
        </p:nvSpPr>
        <p:spPr>
          <a:xfrm>
            <a:off x="594360" y="4160520"/>
            <a:ext cx="7955280" cy="731520"/>
          </a:xfrm>
          <a:prstGeom prst="rect">
            <a:avLst/>
          </a:prstGeom>
          <a:noFill/>
          <a:ln/>
        </p:spPr>
        <p:txBody>
          <a:bodyPr wrap="square" rtlCol="0" anchor="t"/>
          <a:lstStyle/>
          <a:p>
            <a:pPr marL="0" indent="0">
              <a:lnSpc>
                <a:spcPct val="130000"/>
              </a:lnSpc>
              <a:buNone/>
            </a:pPr>
            <a:r>
              <a:rPr lang="en-US" sz="950" dirty="0">
                <a:solidFill>
                  <a:srgbClr val="212121"/>
                </a:solidFill>
                <a:latin typeface="Calibri" pitchFamily="34" charset="0"/>
                <a:ea typeface="Calibri" pitchFamily="34" charset="-122"/>
                <a:cs typeface="Calibri" pitchFamily="34" charset="-120"/>
              </a:rPr>
              <a:t>各因子的敏感性分析表明，外出时长与节能比例呈强正相关（r=0.9998），热时间常数呈强负相关（r=-0.9994），能效比呈复合相关（存在拐点）。</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txBody>
          <a:bodyPr/>
          <a:lstStyle/>
          <a:p>
            <a:endParaRPr lang="zh-CN" altLang="en-US"/>
          </a:p>
        </p:txBody>
      </p:sp>
      <p:sp>
        <p:nvSpPr>
          <p:cNvPr id="3" name="Text 1"/>
          <p:cNvSpPr/>
          <p:nvPr/>
        </p:nvSpPr>
        <p:spPr>
          <a:xfrm>
            <a:off x="457200" y="45720"/>
            <a:ext cx="8229600" cy="548640"/>
          </a:xfrm>
          <a:prstGeom prst="rect">
            <a:avLst/>
          </a:prstGeom>
          <a:noFill/>
          <a:ln/>
        </p:spPr>
        <p:txBody>
          <a:bodyPr wrap="square"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研究结论与建议</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marL="0" indent="0" algn="r">
              <a:buNone/>
            </a:pPr>
            <a:r>
              <a:rPr lang="en-US" sz="800" dirty="0">
                <a:solidFill>
                  <a:srgbClr val="999999"/>
                </a:solidFill>
                <a:latin typeface="Calibri" pitchFamily="34" charset="0"/>
                <a:ea typeface="Calibri" pitchFamily="34" charset="-122"/>
                <a:cs typeface="Calibri" pitchFamily="34" charset="-120"/>
              </a:rPr>
              <a:t>23 / 25</a:t>
            </a:r>
            <a:endParaRPr lang="en-US" sz="800" dirty="0"/>
          </a:p>
        </p:txBody>
      </p:sp>
      <p:sp>
        <p:nvSpPr>
          <p:cNvPr id="5" name="Text 3"/>
          <p:cNvSpPr/>
          <p:nvPr/>
        </p:nvSpPr>
        <p:spPr>
          <a:xfrm>
            <a:off x="457200" y="914400"/>
            <a:ext cx="8229600" cy="320040"/>
          </a:xfrm>
          <a:prstGeom prst="rect">
            <a:avLst/>
          </a:prstGeom>
          <a:noFill/>
          <a:ln/>
        </p:spPr>
        <p:txBody>
          <a:bodyPr wrap="square" rtlCol="0" anchor="ctr"/>
          <a:lstStyle/>
          <a:p>
            <a:pPr marL="0" indent="0">
              <a:buNone/>
            </a:pPr>
            <a:r>
              <a:rPr lang="en-US" sz="1100" b="1" dirty="0">
                <a:solidFill>
                  <a:srgbClr val="0D47A1"/>
                </a:solidFill>
                <a:latin typeface="Calibri" pitchFamily="34" charset="0"/>
                <a:ea typeface="Calibri" pitchFamily="34" charset="-122"/>
                <a:cs typeface="Calibri" pitchFamily="34" charset="-120"/>
              </a:rPr>
              <a:t>表1：临界工况数值汇总</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4114800" cy="1554480"/>
        </p:xfrm>
        <a:graphic>
          <a:graphicData uri="http://schemas.openxmlformats.org/drawingml/2006/table">
            <a:tbl>
              <a:tblPr/>
              <a:tblGrid>
                <a:gridCol w="256032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tblGrid>
              <a:tr h="27432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统计指标</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数值</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extLst>
                  <a:ext uri="{0D108BD9-81ED-4DB2-BD59-A6C34878D82A}">
                    <a16:rowId xmlns:a16="http://schemas.microsoft.com/office/drawing/2014/main" val="10000"/>
                  </a:ext>
                </a:extLst>
              </a:tr>
              <a:tr h="256032">
                <a:tc>
                  <a:txBody>
                    <a:bodyPr/>
                    <a:lstStyle/>
                    <a:p>
                      <a:pPr marL="0" indent="0">
                        <a:buNone/>
                      </a:pPr>
                      <a:r>
                        <a:rPr lang="en-US" sz="900" dirty="0">
                          <a:solidFill>
                            <a:srgbClr val="212121"/>
                          </a:solidFill>
                          <a:latin typeface="Calibri" pitchFamily="34" charset="0"/>
                          <a:ea typeface="Calibri" pitchFamily="34" charset="-122"/>
                          <a:cs typeface="Calibri" pitchFamily="34" charset="-120"/>
                        </a:rPr>
                        <a:t>平均临界外出时长</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b="1" dirty="0">
                          <a:solidFill>
                            <a:srgbClr val="212121"/>
                          </a:solidFill>
                          <a:latin typeface="Calibri" pitchFamily="34" charset="0"/>
                          <a:ea typeface="Calibri" pitchFamily="34" charset="-122"/>
                          <a:cs typeface="Calibri" pitchFamily="34" charset="-120"/>
                        </a:rPr>
                        <a:t>约 3.8 小时</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900" dirty="0">
                          <a:solidFill>
                            <a:srgbClr val="212121"/>
                          </a:solidFill>
                          <a:latin typeface="Calibri" pitchFamily="34" charset="0"/>
                          <a:ea typeface="Calibri" pitchFamily="34" charset="-122"/>
                          <a:cs typeface="Calibri" pitchFamily="34" charset="-120"/>
                        </a:rPr>
                        <a:t>最小临界外出时长</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dirty="0">
                          <a:solidFill>
                            <a:srgbClr val="212121"/>
                          </a:solidFill>
                          <a:latin typeface="Calibri" pitchFamily="34" charset="0"/>
                          <a:ea typeface="Calibri" pitchFamily="34" charset="-122"/>
                          <a:cs typeface="Calibri" pitchFamily="34" charset="-120"/>
                        </a:rPr>
                        <a:t>0.1 小时</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900" dirty="0">
                          <a:solidFill>
                            <a:srgbClr val="212121"/>
                          </a:solidFill>
                          <a:latin typeface="Calibri" pitchFamily="34" charset="0"/>
                          <a:ea typeface="Calibri" pitchFamily="34" charset="-122"/>
                          <a:cs typeface="Calibri" pitchFamily="34" charset="-120"/>
                        </a:rPr>
                        <a:t>最大临界外出时长</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dirty="0">
                          <a:solidFill>
                            <a:srgbClr val="212121"/>
                          </a:solidFill>
                          <a:latin typeface="Calibri" pitchFamily="34" charset="0"/>
                          <a:ea typeface="Calibri" pitchFamily="34" charset="-122"/>
                          <a:cs typeface="Calibri" pitchFamily="34" charset="-120"/>
                        </a:rPr>
                        <a:t>12.1 小时</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900" dirty="0">
                          <a:solidFill>
                            <a:srgbClr val="212121"/>
                          </a:solidFill>
                          <a:latin typeface="Calibri" pitchFamily="34" charset="0"/>
                          <a:ea typeface="Calibri" pitchFamily="34" charset="-122"/>
                          <a:cs typeface="Calibri" pitchFamily="34" charset="-120"/>
                        </a:rPr>
                        <a:t>二分法搜索精度</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dirty="0">
                          <a:solidFill>
                            <a:srgbClr val="212121"/>
                          </a:solidFill>
                          <a:latin typeface="Calibri" pitchFamily="34" charset="0"/>
                          <a:ea typeface="Calibri" pitchFamily="34" charset="-122"/>
                          <a:cs typeface="Calibri" pitchFamily="34" charset="-120"/>
                        </a:rPr>
                        <a:t>0.01 小时</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900" dirty="0">
                          <a:solidFill>
                            <a:srgbClr val="212121"/>
                          </a:solidFill>
                          <a:latin typeface="Calibri" pitchFamily="34" charset="0"/>
                          <a:ea typeface="Calibri" pitchFamily="34" charset="-122"/>
                          <a:cs typeface="Calibri" pitchFamily="34" charset="-120"/>
                        </a:rPr>
                        <a:t>精确搜索组数</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dirty="0">
                          <a:solidFill>
                            <a:srgbClr val="212121"/>
                          </a:solidFill>
                          <a:latin typeface="Calibri" pitchFamily="34" charset="0"/>
                          <a:ea typeface="Calibri" pitchFamily="34" charset="-122"/>
                          <a:cs typeface="Calibri" pitchFamily="34" charset="-120"/>
                        </a:rPr>
                        <a:t>600 组</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4"/>
          <p:cNvSpPr/>
          <p:nvPr/>
        </p:nvSpPr>
        <p:spPr>
          <a:xfrm>
            <a:off x="4754880" y="914400"/>
            <a:ext cx="3931920" cy="320040"/>
          </a:xfrm>
          <a:prstGeom prst="rect">
            <a:avLst/>
          </a:prstGeom>
          <a:noFill/>
          <a:ln/>
        </p:spPr>
        <p:txBody>
          <a:bodyPr wrap="square" rtlCol="0" anchor="ctr"/>
          <a:lstStyle/>
          <a:p>
            <a:pPr marL="0" indent="0">
              <a:buNone/>
            </a:pPr>
            <a:r>
              <a:rPr lang="en-US" sz="1100" b="1" dirty="0">
                <a:solidFill>
                  <a:srgbClr val="0D47A1"/>
                </a:solidFill>
                <a:latin typeface="Calibri" pitchFamily="34" charset="0"/>
                <a:ea typeface="Calibri" pitchFamily="34" charset="-122"/>
                <a:cs typeface="Calibri" pitchFamily="34" charset="-120"/>
              </a:rPr>
              <a:t>表2：单因子相关性判定</a:t>
            </a:r>
            <a:endParaRPr lang="en-US" sz="110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4754880" y="1280160"/>
          <a:ext cx="3383280" cy="1554480"/>
        </p:xfrm>
        <a:graphic>
          <a:graphicData uri="http://schemas.openxmlformats.org/drawingml/2006/table">
            <a:tbl>
              <a:tblPr/>
              <a:tblGrid>
                <a:gridCol w="109728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274320">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因子</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相关性</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方向</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强度</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extLst>
                  <a:ext uri="{0D108BD9-81ED-4DB2-BD59-A6C34878D82A}">
                    <a16:rowId xmlns:a16="http://schemas.microsoft.com/office/drawing/2014/main" val="10000"/>
                  </a:ext>
                </a:extLst>
              </a:tr>
              <a:tr h="256032">
                <a:tc>
                  <a:txBody>
                    <a:bodyPr/>
                    <a:lstStyle/>
                    <a:p>
                      <a:pPr marL="0" indent="0">
                        <a:buNone/>
                      </a:pPr>
                      <a:r>
                        <a:rPr lang="en-US" sz="900" dirty="0">
                          <a:solidFill>
                            <a:srgbClr val="212121"/>
                          </a:solidFill>
                          <a:latin typeface="Calibri" pitchFamily="34" charset="0"/>
                          <a:ea typeface="Calibri" pitchFamily="34" charset="-122"/>
                          <a:cs typeface="Calibri" pitchFamily="34" charset="-120"/>
                        </a:rPr>
                        <a:t>外出时长</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b="1" dirty="0">
                          <a:solidFill>
                            <a:srgbClr val="4CAF50"/>
                          </a:solidFill>
                          <a:latin typeface="Calibri" pitchFamily="34" charset="0"/>
                          <a:ea typeface="Calibri" pitchFamily="34" charset="-122"/>
                          <a:cs typeface="Calibri" pitchFamily="34" charset="-120"/>
                        </a:rPr>
                        <a:t>正相关</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强</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r=1.000</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900" dirty="0">
                          <a:solidFill>
                            <a:srgbClr val="212121"/>
                          </a:solidFill>
                          <a:latin typeface="Calibri" pitchFamily="34" charset="0"/>
                          <a:ea typeface="Calibri" pitchFamily="34" charset="-122"/>
                          <a:cs typeface="Calibri" pitchFamily="34" charset="-120"/>
                        </a:rPr>
                        <a:t>室外温度</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b="1" dirty="0">
                          <a:solidFill>
                            <a:srgbClr val="4CAF50"/>
                          </a:solidFill>
                          <a:latin typeface="Calibri" pitchFamily="34" charset="0"/>
                          <a:ea typeface="Calibri" pitchFamily="34" charset="-122"/>
                          <a:cs typeface="Calibri" pitchFamily="34" charset="-120"/>
                        </a:rPr>
                        <a:t>正相关</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中</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r=0.468</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900" dirty="0">
                          <a:solidFill>
                            <a:srgbClr val="212121"/>
                          </a:solidFill>
                          <a:latin typeface="Calibri" pitchFamily="34" charset="0"/>
                          <a:ea typeface="Calibri" pitchFamily="34" charset="-122"/>
                          <a:cs typeface="Calibri" pitchFamily="34" charset="-120"/>
                        </a:rPr>
                        <a:t>设定温度</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b="1" dirty="0">
                          <a:solidFill>
                            <a:srgbClr val="4CAF50"/>
                          </a:solidFill>
                          <a:latin typeface="Calibri" pitchFamily="34" charset="0"/>
                          <a:ea typeface="Calibri" pitchFamily="34" charset="-122"/>
                          <a:cs typeface="Calibri" pitchFamily="34" charset="-120"/>
                        </a:rPr>
                        <a:t>正相关</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强</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r=0.959</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900" dirty="0">
                          <a:solidFill>
                            <a:srgbClr val="212121"/>
                          </a:solidFill>
                          <a:latin typeface="Calibri" pitchFamily="34" charset="0"/>
                          <a:ea typeface="Calibri" pitchFamily="34" charset="-122"/>
                          <a:cs typeface="Calibri" pitchFamily="34" charset="-120"/>
                        </a:rPr>
                        <a:t>热时间常数</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b="1" dirty="0">
                          <a:solidFill>
                            <a:srgbClr val="F44336"/>
                          </a:solidFill>
                          <a:latin typeface="Calibri" pitchFamily="34" charset="0"/>
                          <a:ea typeface="Calibri" pitchFamily="34" charset="-122"/>
                          <a:cs typeface="Calibri" pitchFamily="34" charset="-120"/>
                        </a:rPr>
                        <a:t>负相关</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强</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r=-0.999</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900" dirty="0">
                          <a:solidFill>
                            <a:srgbClr val="212121"/>
                          </a:solidFill>
                          <a:latin typeface="Calibri" pitchFamily="34" charset="0"/>
                          <a:ea typeface="Calibri" pitchFamily="34" charset="-122"/>
                          <a:cs typeface="Calibri" pitchFamily="34" charset="-120"/>
                        </a:rPr>
                        <a:t>能效比</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buNone/>
                      </a:pPr>
                      <a:r>
                        <a:rPr lang="en-US" sz="900" b="1" dirty="0">
                          <a:solidFill>
                            <a:srgbClr val="FF9800"/>
                          </a:solidFill>
                          <a:latin typeface="Calibri" pitchFamily="34" charset="0"/>
                          <a:ea typeface="Calibri" pitchFamily="34" charset="-122"/>
                          <a:cs typeface="Calibri" pitchFamily="34" charset="-120"/>
                        </a:rPr>
                        <a:t>复合相关</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弱</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r=0.023</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Shape 5"/>
          <p:cNvSpPr/>
          <p:nvPr/>
        </p:nvSpPr>
        <p:spPr>
          <a:xfrm>
            <a:off x="457200" y="3657600"/>
            <a:ext cx="8229600" cy="1188720"/>
          </a:xfrm>
          <a:prstGeom prst="roundRect">
            <a:avLst>
              <a:gd name="adj" fmla="val 7692"/>
            </a:avLst>
          </a:prstGeom>
          <a:solidFill>
            <a:srgbClr val="E3F2FD"/>
          </a:solidFill>
          <a:ln w="6350">
            <a:solidFill>
              <a:srgbClr val="0D47A1"/>
            </a:solidFill>
            <a:prstDash val="solid"/>
          </a:ln>
        </p:spPr>
        <p:txBody>
          <a:bodyPr/>
          <a:lstStyle/>
          <a:p>
            <a:endParaRPr lang="zh-CN" altLang="en-US"/>
          </a:p>
        </p:txBody>
      </p:sp>
      <p:sp>
        <p:nvSpPr>
          <p:cNvPr id="10" name="Text 6"/>
          <p:cNvSpPr/>
          <p:nvPr/>
        </p:nvSpPr>
        <p:spPr>
          <a:xfrm>
            <a:off x="594360" y="3703320"/>
            <a:ext cx="7955280" cy="274320"/>
          </a:xfrm>
          <a:prstGeom prst="rect">
            <a:avLst/>
          </a:prstGeom>
          <a:noFill/>
          <a:ln/>
        </p:spPr>
        <p:txBody>
          <a:bodyPr wrap="square" rtlCol="0" anchor="ctr"/>
          <a:lstStyle/>
          <a:p>
            <a:pPr marL="0" indent="0">
              <a:buNone/>
            </a:pPr>
            <a:r>
              <a:rPr lang="en-US" sz="1100" b="1" dirty="0">
                <a:solidFill>
                  <a:srgbClr val="0D47A1"/>
                </a:solidFill>
                <a:latin typeface="Calibri" pitchFamily="34" charset="0"/>
                <a:ea typeface="Calibri" pitchFamily="34" charset="-122"/>
                <a:cs typeface="Calibri" pitchFamily="34" charset="-120"/>
              </a:rPr>
              <a:t>核心建议</a:t>
            </a:r>
            <a:endParaRPr lang="en-US" sz="1100" dirty="0"/>
          </a:p>
        </p:txBody>
      </p:sp>
      <p:sp>
        <p:nvSpPr>
          <p:cNvPr id="11" name="Text 7"/>
          <p:cNvSpPr/>
          <p:nvPr/>
        </p:nvSpPr>
        <p:spPr>
          <a:xfrm>
            <a:off x="594360" y="3977640"/>
            <a:ext cx="7955280" cy="822960"/>
          </a:xfrm>
          <a:prstGeom prst="rect">
            <a:avLst/>
          </a:prstGeom>
          <a:noFill/>
          <a:ln/>
        </p:spPr>
        <p:txBody>
          <a:bodyPr wrap="square" rtlCol="0" anchor="t"/>
          <a:lstStyle/>
          <a:p>
            <a:pPr marL="0" indent="0">
              <a:lnSpc>
                <a:spcPct val="130000"/>
              </a:lnSpc>
              <a:buNone/>
            </a:pPr>
            <a:r>
              <a:rPr lang="en-US" sz="900" dirty="0">
                <a:solidFill>
                  <a:srgbClr val="212121"/>
                </a:solidFill>
                <a:latin typeface="Calibri" pitchFamily="34" charset="0"/>
                <a:ea typeface="Calibri" pitchFamily="34" charset="-122"/>
                <a:cs typeface="Calibri" pitchFamily="34" charset="-120"/>
              </a:rPr>
              <a:t>1. 短暂外出（&lt;2小时）建议保持空调运行；中等时长（2~6小时）需结合建筑保温性能判断；长时间外出（&gt;6小时）建议关闭空调。</a:t>
            </a:r>
            <a:endParaRPr lang="en-US" sz="900" dirty="0"/>
          </a:p>
          <a:p>
            <a:pPr marL="0" indent="0">
              <a:lnSpc>
                <a:spcPct val="130000"/>
              </a:lnSpc>
              <a:buNone/>
            </a:pPr>
            <a:r>
              <a:rPr lang="en-US" sz="900" dirty="0">
                <a:solidFill>
                  <a:srgbClr val="212121"/>
                </a:solidFill>
                <a:latin typeface="Calibri" pitchFamily="34" charset="0"/>
                <a:ea typeface="Calibri" pitchFamily="34" charset="-122"/>
                <a:cs typeface="Calibri" pitchFamily="34" charset="-120"/>
              </a:rPr>
              <a:t>2. 改善建筑保温性能（增大热时间常数）是降低空调能耗的最有效途径。</a:t>
            </a:r>
            <a:endParaRPr lang="en-US" sz="900" dirty="0"/>
          </a:p>
          <a:p>
            <a:pPr marL="0" indent="0">
              <a:lnSpc>
                <a:spcPct val="130000"/>
              </a:lnSpc>
              <a:buNone/>
            </a:pPr>
            <a:r>
              <a:rPr lang="en-US" sz="900" dirty="0">
                <a:solidFill>
                  <a:srgbClr val="212121"/>
                </a:solidFill>
                <a:latin typeface="Calibri" pitchFamily="34" charset="0"/>
                <a:ea typeface="Calibri" pitchFamily="34" charset="-122"/>
                <a:cs typeface="Calibri" pitchFamily="34" charset="-120"/>
              </a:rPr>
              <a:t>3. 选购高能效比空调虽然对临界时长影响有限，但可显著降低绝对耗电量。</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txBody>
          <a:bodyPr/>
          <a:lstStyle/>
          <a:p>
            <a:endParaRPr lang="zh-CN" altLang="en-US"/>
          </a:p>
        </p:txBody>
      </p:sp>
      <p:sp>
        <p:nvSpPr>
          <p:cNvPr id="3" name="Text 1"/>
          <p:cNvSpPr/>
          <p:nvPr/>
        </p:nvSpPr>
        <p:spPr>
          <a:xfrm>
            <a:off x="457200" y="45720"/>
            <a:ext cx="8229600" cy="548640"/>
          </a:xfrm>
          <a:prstGeom prst="rect">
            <a:avLst/>
          </a:prstGeom>
          <a:noFill/>
          <a:ln/>
        </p:spPr>
        <p:txBody>
          <a:bodyPr wrap="square"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附录A：实验因子与水平设计</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marL="0" indent="0" algn="r">
              <a:buNone/>
            </a:pPr>
            <a:r>
              <a:rPr lang="en-US" sz="800" dirty="0">
                <a:solidFill>
                  <a:srgbClr val="999999"/>
                </a:solidFill>
                <a:latin typeface="Calibri" pitchFamily="34" charset="0"/>
                <a:ea typeface="Calibri" pitchFamily="34" charset="-122"/>
                <a:cs typeface="Calibri" pitchFamily="34" charset="-120"/>
              </a:rPr>
              <a:t>24 / 25</a:t>
            </a:r>
            <a:endParaRPr lang="en-US" sz="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097280"/>
          <a:ext cx="8046720" cy="2075688"/>
        </p:xfrm>
        <a:graphic>
          <a:graphicData uri="http://schemas.openxmlformats.org/drawingml/2006/table">
            <a:tbl>
              <a:tblPr/>
              <a:tblGrid>
                <a:gridCol w="2011680">
                  <a:extLst>
                    <a:ext uri="{9D8B030D-6E8A-4147-A177-3AD203B41FA5}">
                      <a16:colId xmlns:a16="http://schemas.microsoft.com/office/drawing/2014/main" val="20000"/>
                    </a:ext>
                  </a:extLst>
                </a:gridCol>
                <a:gridCol w="1207008">
                  <a:extLst>
                    <a:ext uri="{9D8B030D-6E8A-4147-A177-3AD203B41FA5}">
                      <a16:colId xmlns:a16="http://schemas.microsoft.com/office/drawing/2014/main" val="20001"/>
                    </a:ext>
                  </a:extLst>
                </a:gridCol>
                <a:gridCol w="1207008">
                  <a:extLst>
                    <a:ext uri="{9D8B030D-6E8A-4147-A177-3AD203B41FA5}">
                      <a16:colId xmlns:a16="http://schemas.microsoft.com/office/drawing/2014/main" val="20002"/>
                    </a:ext>
                  </a:extLst>
                </a:gridCol>
                <a:gridCol w="1207008">
                  <a:extLst>
                    <a:ext uri="{9D8B030D-6E8A-4147-A177-3AD203B41FA5}">
                      <a16:colId xmlns:a16="http://schemas.microsoft.com/office/drawing/2014/main" val="20003"/>
                    </a:ext>
                  </a:extLst>
                </a:gridCol>
                <a:gridCol w="1207008">
                  <a:extLst>
                    <a:ext uri="{9D8B030D-6E8A-4147-A177-3AD203B41FA5}">
                      <a16:colId xmlns:a16="http://schemas.microsoft.com/office/drawing/2014/main" val="20004"/>
                    </a:ext>
                  </a:extLst>
                </a:gridCol>
                <a:gridCol w="1207008">
                  <a:extLst>
                    <a:ext uri="{9D8B030D-6E8A-4147-A177-3AD203B41FA5}">
                      <a16:colId xmlns:a16="http://schemas.microsoft.com/office/drawing/2014/main" val="20005"/>
                    </a:ext>
                  </a:extLst>
                </a:gridCol>
              </a:tblGrid>
              <a:tr h="320040">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因子</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水平1</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水平2</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水平3</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水平4</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水平5</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extLst>
                  <a:ext uri="{0D108BD9-81ED-4DB2-BD59-A6C34878D82A}">
                    <a16:rowId xmlns:a16="http://schemas.microsoft.com/office/drawing/2014/main" val="10000"/>
                  </a:ext>
                </a:extLst>
              </a:tr>
              <a:tr h="292608">
                <a:tc>
                  <a:txBody>
                    <a:bodyPr/>
                    <a:lstStyle/>
                    <a:p>
                      <a:pPr marL="0" indent="0" algn="ctr">
                        <a:buNone/>
                      </a:pPr>
                      <a:r>
                        <a:rPr lang="en-US" sz="850" b="1" dirty="0">
                          <a:solidFill>
                            <a:srgbClr val="212121"/>
                          </a:solidFill>
                          <a:latin typeface="Calibri" pitchFamily="34" charset="0"/>
                          <a:ea typeface="Calibri" pitchFamily="34" charset="-122"/>
                          <a:cs typeface="Calibri" pitchFamily="34" charset="-120"/>
                        </a:rPr>
                        <a:t>外出时长 t_off (h)</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0.5</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8</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12</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lgn="ctr">
                        <a:buNone/>
                      </a:pPr>
                      <a:r>
                        <a:rPr lang="en-US" sz="850" b="1" dirty="0">
                          <a:solidFill>
                            <a:srgbClr val="212121"/>
                          </a:solidFill>
                          <a:latin typeface="Calibri" pitchFamily="34" charset="0"/>
                          <a:ea typeface="Calibri" pitchFamily="34" charset="-122"/>
                          <a:cs typeface="Calibri" pitchFamily="34" charset="-120"/>
                        </a:rPr>
                        <a:t>室外温度 T_out (°C)</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30</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33</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36</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39</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42</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lgn="ctr">
                        <a:buNone/>
                      </a:pPr>
                      <a:r>
                        <a:rPr lang="en-US" sz="850" b="1" dirty="0">
                          <a:solidFill>
                            <a:srgbClr val="212121"/>
                          </a:solidFill>
                          <a:latin typeface="Calibri" pitchFamily="34" charset="0"/>
                          <a:ea typeface="Calibri" pitchFamily="34" charset="-122"/>
                          <a:cs typeface="Calibri" pitchFamily="34" charset="-120"/>
                        </a:rPr>
                        <a:t>设定温度 T_set (°C)</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22</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24</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26</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28</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30</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lgn="ctr">
                        <a:buNone/>
                      </a:pPr>
                      <a:r>
                        <a:rPr lang="en-US" sz="850" b="1" dirty="0">
                          <a:solidFill>
                            <a:srgbClr val="212121"/>
                          </a:solidFill>
                          <a:latin typeface="Calibri" pitchFamily="34" charset="0"/>
                          <a:ea typeface="Calibri" pitchFamily="34" charset="-122"/>
                          <a:cs typeface="Calibri" pitchFamily="34" charset="-120"/>
                        </a:rPr>
                        <a:t>热时间常数 τ (h)</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2</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4</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8</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16</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32</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292608">
                <a:tc>
                  <a:txBody>
                    <a:bodyPr/>
                    <a:lstStyle/>
                    <a:p>
                      <a:pPr marL="0" indent="0" algn="ctr">
                        <a:buNone/>
                      </a:pPr>
                      <a:r>
                        <a:rPr lang="en-US" sz="850" b="1" dirty="0">
                          <a:solidFill>
                            <a:srgbClr val="212121"/>
                          </a:solidFill>
                          <a:latin typeface="Calibri" pitchFamily="34" charset="0"/>
                          <a:ea typeface="Calibri" pitchFamily="34" charset="-122"/>
                          <a:cs typeface="Calibri" pitchFamily="34" charset="-120"/>
                        </a:rPr>
                        <a:t>能效比 COP</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2.5</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3.0</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3.5</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4.0</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5.0</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292608">
                <a:tc>
                  <a:txBody>
                    <a:bodyPr/>
                    <a:lstStyle/>
                    <a:p>
                      <a:pPr marL="0" indent="0" algn="ctr">
                        <a:buNone/>
                      </a:pPr>
                      <a:r>
                        <a:rPr lang="en-US" sz="850" b="1" dirty="0">
                          <a:solidFill>
                            <a:srgbClr val="212121"/>
                          </a:solidFill>
                          <a:latin typeface="Calibri" pitchFamily="34" charset="0"/>
                          <a:ea typeface="Calibri" pitchFamily="34" charset="-122"/>
                          <a:cs typeface="Calibri" pitchFamily="34" charset="-120"/>
                        </a:rPr>
                        <a:t>建筑热容 C (kJ/K)</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500</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1000</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2000</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4000</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850" dirty="0">
                          <a:solidFill>
                            <a:srgbClr val="212121"/>
                          </a:solidFill>
                          <a:latin typeface="Calibri" pitchFamily="34" charset="0"/>
                          <a:ea typeface="Calibri" pitchFamily="34" charset="-122"/>
                          <a:cs typeface="Calibri" pitchFamily="34" charset="-120"/>
                        </a:rPr>
                        <a:t>8000</a:t>
                      </a:r>
                      <a:endParaRPr lang="en-US" sz="85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3"/>
          <p:cNvSpPr/>
          <p:nvPr/>
        </p:nvSpPr>
        <p:spPr>
          <a:xfrm>
            <a:off x="457200" y="3840480"/>
            <a:ext cx="8229600" cy="274320"/>
          </a:xfrm>
          <a:prstGeom prst="rect">
            <a:avLst/>
          </a:prstGeom>
          <a:noFill/>
          <a:ln/>
        </p:spPr>
        <p:txBody>
          <a:bodyPr wrap="square" rtlCol="0" anchor="ctr"/>
          <a:lstStyle/>
          <a:p>
            <a:pPr marL="0" indent="0" algn="ctr">
              <a:buNone/>
            </a:pPr>
            <a:r>
              <a:rPr lang="en-US" sz="900" dirty="0">
                <a:solidFill>
                  <a:srgbClr val="666666"/>
                </a:solidFill>
                <a:latin typeface="Calibri" pitchFamily="34" charset="0"/>
                <a:ea typeface="Calibri" pitchFamily="34" charset="-122"/>
                <a:cs typeface="Calibri" pitchFamily="34" charset="-120"/>
              </a:rPr>
              <a:t>正交表：L50(5^6)，共50组实验，覆盖6个因子各5个水平</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0D47A1"/>
          </a:solidFill>
          <a:ln/>
        </p:spPr>
        <p:txBody>
          <a:bodyPr/>
          <a:lstStyle/>
          <a:p>
            <a:endParaRPr lang="zh-CN" altLang="en-US"/>
          </a:p>
        </p:txBody>
      </p:sp>
      <p:sp>
        <p:nvSpPr>
          <p:cNvPr id="3" name="Text 1"/>
          <p:cNvSpPr/>
          <p:nvPr/>
        </p:nvSpPr>
        <p:spPr>
          <a:xfrm>
            <a:off x="457200" y="45720"/>
            <a:ext cx="8229600" cy="548640"/>
          </a:xfrm>
          <a:prstGeom prst="rect">
            <a:avLst/>
          </a:prstGeom>
          <a:noFill/>
          <a:ln/>
        </p:spPr>
        <p:txBody>
          <a:bodyPr wrap="square" rtlCol="0" anchor="ctr"/>
          <a:lstStyle/>
          <a:p>
            <a:pPr marL="0" indent="0" algn="l">
              <a:buNone/>
            </a:pPr>
            <a:r>
              <a:rPr lang="en-US" sz="1800" b="1" dirty="0">
                <a:solidFill>
                  <a:srgbClr val="FFFFFF"/>
                </a:solidFill>
                <a:latin typeface="Calibri" pitchFamily="34" charset="0"/>
                <a:ea typeface="Calibri" pitchFamily="34" charset="-122"/>
                <a:cs typeface="Calibri" pitchFamily="34" charset="-120"/>
              </a:rPr>
              <a:t>附录B：仿真数据汇总（L50正交实验）</a:t>
            </a:r>
            <a:endParaRPr lang="en-US" sz="1800" dirty="0"/>
          </a:p>
        </p:txBody>
      </p:sp>
      <p:sp>
        <p:nvSpPr>
          <p:cNvPr id="4" name="Text 2"/>
          <p:cNvSpPr/>
          <p:nvPr/>
        </p:nvSpPr>
        <p:spPr>
          <a:xfrm>
            <a:off x="457200" y="4823460"/>
            <a:ext cx="8229600" cy="274320"/>
          </a:xfrm>
          <a:prstGeom prst="rect">
            <a:avLst/>
          </a:prstGeom>
          <a:noFill/>
          <a:ln/>
        </p:spPr>
        <p:txBody>
          <a:bodyPr wrap="square" rtlCol="0" anchor="b"/>
          <a:lstStyle/>
          <a:p>
            <a:pPr marL="0" indent="0" algn="r">
              <a:buNone/>
            </a:pPr>
            <a:r>
              <a:rPr lang="en-US" sz="800" dirty="0">
                <a:solidFill>
                  <a:srgbClr val="999999"/>
                </a:solidFill>
                <a:latin typeface="Calibri" pitchFamily="34" charset="0"/>
                <a:ea typeface="Calibri" pitchFamily="34" charset="-122"/>
                <a:cs typeface="Calibri" pitchFamily="34" charset="-120"/>
              </a:rPr>
              <a:t>25 / 25</a:t>
            </a:r>
            <a:endParaRPr lang="en-US" sz="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914400" y="1188720"/>
          <a:ext cx="7315200" cy="2075688"/>
        </p:xfrm>
        <a:graphic>
          <a:graphicData uri="http://schemas.openxmlformats.org/drawingml/2006/table">
            <a:tbl>
              <a:tblPr/>
              <a:tblGrid>
                <a:gridCol w="20116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320040">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统计指标</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方案A耗电 (kWh)</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方案B耗电 (kWh)</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节能比例 (%)</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D47A1"/>
                    </a:solidFill>
                  </a:tcPr>
                </a:tc>
                <a:extLst>
                  <a:ext uri="{0D108BD9-81ED-4DB2-BD59-A6C34878D82A}">
                    <a16:rowId xmlns:a16="http://schemas.microsoft.com/office/drawing/2014/main" val="10000"/>
                  </a:ext>
                </a:extLst>
              </a:tr>
              <a:tr h="292608">
                <a:tc>
                  <a:txBody>
                    <a:bodyPr/>
                    <a:lstStyle/>
                    <a:p>
                      <a:pPr marL="0" indent="0" algn="ctr">
                        <a:buNone/>
                      </a:pPr>
                      <a:r>
                        <a:rPr lang="en-US" sz="900" b="1" dirty="0">
                          <a:solidFill>
                            <a:srgbClr val="212121"/>
                          </a:solidFill>
                          <a:latin typeface="Calibri" pitchFamily="34" charset="0"/>
                          <a:ea typeface="Calibri" pitchFamily="34" charset="-122"/>
                          <a:cs typeface="Calibri" pitchFamily="34" charset="-120"/>
                        </a:rPr>
                        <a:t>平均值</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3.42</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2.87</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16.1</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292608">
                <a:tc>
                  <a:txBody>
                    <a:bodyPr/>
                    <a:lstStyle/>
                    <a:p>
                      <a:pPr marL="0" indent="0" algn="ctr">
                        <a:buNone/>
                      </a:pPr>
                      <a:r>
                        <a:rPr lang="en-US" sz="900" b="1" dirty="0">
                          <a:solidFill>
                            <a:srgbClr val="212121"/>
                          </a:solidFill>
                          <a:latin typeface="Calibri" pitchFamily="34" charset="0"/>
                          <a:ea typeface="Calibri" pitchFamily="34" charset="-122"/>
                          <a:cs typeface="Calibri" pitchFamily="34" charset="-120"/>
                        </a:rPr>
                        <a:t>标准差</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2.15</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2.38</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18.3</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292608">
                <a:tc>
                  <a:txBody>
                    <a:bodyPr/>
                    <a:lstStyle/>
                    <a:p>
                      <a:pPr marL="0" indent="0" algn="ctr">
                        <a:buNone/>
                      </a:pPr>
                      <a:r>
                        <a:rPr lang="en-US" sz="900" b="1" dirty="0">
                          <a:solidFill>
                            <a:srgbClr val="212121"/>
                          </a:solidFill>
                          <a:latin typeface="Calibri" pitchFamily="34" charset="0"/>
                          <a:ea typeface="Calibri" pitchFamily="34" charset="-122"/>
                          <a:cs typeface="Calibri" pitchFamily="34" charset="-120"/>
                        </a:rPr>
                        <a:t>最小值</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0.25</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0.08</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-45.2</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292608">
                <a:tc>
                  <a:txBody>
                    <a:bodyPr/>
                    <a:lstStyle/>
                    <a:p>
                      <a:pPr marL="0" indent="0" algn="ctr">
                        <a:buNone/>
                      </a:pPr>
                      <a:r>
                        <a:rPr lang="en-US" sz="900" b="1" dirty="0">
                          <a:solidFill>
                            <a:srgbClr val="212121"/>
                          </a:solidFill>
                          <a:latin typeface="Calibri" pitchFamily="34" charset="0"/>
                          <a:ea typeface="Calibri" pitchFamily="34" charset="-122"/>
                          <a:cs typeface="Calibri" pitchFamily="34" charset="-120"/>
                        </a:rPr>
                        <a:t>最大值</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8.40</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9.20</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68.5</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292608">
                <a:tc>
                  <a:txBody>
                    <a:bodyPr/>
                    <a:lstStyle/>
                    <a:p>
                      <a:pPr marL="0" indent="0" algn="ctr">
                        <a:buNone/>
                      </a:pPr>
                      <a:r>
                        <a:rPr lang="en-US" sz="900" b="1" dirty="0">
                          <a:solidFill>
                            <a:srgbClr val="212121"/>
                          </a:solidFill>
                          <a:latin typeface="Calibri" pitchFamily="34" charset="0"/>
                          <a:ea typeface="Calibri" pitchFamily="34" charset="-122"/>
                          <a:cs typeface="Calibri" pitchFamily="34" charset="-120"/>
                        </a:rPr>
                        <a:t>中位数</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3.10</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2.50</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15.8</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292608">
                <a:tc>
                  <a:txBody>
                    <a:bodyPr/>
                    <a:lstStyle/>
                    <a:p>
                      <a:pPr marL="0" indent="0" algn="ctr">
                        <a:buNone/>
                      </a:pPr>
                      <a:r>
                        <a:rPr lang="en-US" sz="900" b="1" dirty="0">
                          <a:solidFill>
                            <a:srgbClr val="212121"/>
                          </a:solidFill>
                          <a:latin typeface="Calibri" pitchFamily="34" charset="0"/>
                          <a:ea typeface="Calibri" pitchFamily="34" charset="-122"/>
                          <a:cs typeface="Calibri" pitchFamily="34" charset="-120"/>
                        </a:rPr>
                        <a:t>方案B更优占比</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dirty="0">
                          <a:solidFill>
                            <a:srgbClr val="212121"/>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marL="0" indent="0" algn="ctr">
                        <a:buNone/>
                      </a:pPr>
                      <a:r>
                        <a:rPr lang="en-US" sz="900" b="1" dirty="0">
                          <a:solidFill>
                            <a:srgbClr val="4CAF50"/>
                          </a:solidFill>
                          <a:latin typeface="Calibri" pitchFamily="34" charset="0"/>
                          <a:ea typeface="Calibri" pitchFamily="34" charset="-122"/>
                          <a:cs typeface="Calibri" pitchFamily="34" charset="-120"/>
                        </a:rPr>
                        <a:t>72%</a:t>
                      </a:r>
                      <a:endParaRPr lang="en-US" sz="900" dirty="0">
                        <a:latin typeface="Calibri" charset="0"/>
                        <a:ea typeface="Calibri" charset="0"/>
                        <a:cs typeface="Calibri" charset="0"/>
                      </a:endParaRPr>
                    </a:p>
                  </a:txBody>
                  <a:tcP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3"/>
          <p:cNvSpPr/>
          <p:nvPr/>
        </p:nvSpPr>
        <p:spPr>
          <a:xfrm>
            <a:off x="457200" y="3931920"/>
            <a:ext cx="8229600" cy="274320"/>
          </a:xfrm>
          <a:prstGeom prst="rect">
            <a:avLst/>
          </a:prstGeom>
          <a:noFill/>
          <a:ln/>
        </p:spPr>
        <p:txBody>
          <a:bodyPr wrap="square" rtlCol="0" anchor="ctr"/>
          <a:lstStyle/>
          <a:p>
            <a:pPr marL="0" indent="0" algn="ctr">
              <a:buNone/>
            </a:pPr>
            <a:r>
              <a:rPr lang="en-US" sz="850" dirty="0">
                <a:solidFill>
                  <a:srgbClr val="666666"/>
                </a:solidFill>
                <a:latin typeface="Calibri" pitchFamily="34" charset="0"/>
                <a:ea typeface="Calibri" pitchFamily="34" charset="-122"/>
                <a:cs typeface="Calibri" pitchFamily="34" charset="-120"/>
              </a:rPr>
              <a:t>注：节能比例 = (方案A - 方案B) / 方案A × 100%，正值表示方案B（关机重启）更省电</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1239</Words>
  <Application>Microsoft Macintosh PowerPoint</Application>
  <PresentationFormat>全屏显示(4:3)</PresentationFormat>
  <Paragraphs>349</Paragraphs>
  <Slides>25</Slides>
  <Notes>25</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25</vt:i4>
      </vt:variant>
    </vt:vector>
  </HeadingPairs>
  <TitlesOfParts>
    <vt:vector size="28"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空调能耗对比研究</dc:subject>
  <dc:creator>AI Research</dc:creator>
  <cp:lastModifiedBy>office</cp:lastModifiedBy>
  <cp:revision>2</cp:revision>
  <dcterms:created xsi:type="dcterms:W3CDTF">2026-04-16T15:43:26Z</dcterms:created>
  <dcterms:modified xsi:type="dcterms:W3CDTF">2026-04-16T15:58:16Z</dcterms:modified>
</cp:coreProperties>
</file>